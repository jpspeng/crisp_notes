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93" r:id="rId2"/>
    <p:sldId id="296" r:id="rId3"/>
    <p:sldId id="274" r:id="rId4"/>
    <p:sldId id="273" r:id="rId5"/>
    <p:sldId id="276" r:id="rId6"/>
    <p:sldId id="275" r:id="rId7"/>
    <p:sldId id="27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05"/>
    <p:restoredTop sz="92813"/>
  </p:normalViewPr>
  <p:slideViewPr>
    <p:cSldViewPr snapToGrid="0" snapToObjects="1">
      <p:cViewPr varScale="1">
        <p:scale>
          <a:sx n="103" d="100"/>
          <a:sy n="103" d="100"/>
        </p:scale>
        <p:origin x="7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C8C89B-37FB-6044-B7FE-ED1648408672}" type="datetimeFigureOut">
              <a:rPr lang="en-US" smtClean="0"/>
              <a:t>7/15/26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204E14-BC01-2144-B361-12211DA86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866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04E14-BC01-2144-B361-12211DA8646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254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307A4-7FBA-A04B-A7DA-C4446FDC51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CE7AF0-B5A9-2348-B734-014748259A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63960-24AC-3D48-A98C-F6FA25DD9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B8E35-DA94-F641-B351-5DE0500B2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FC056-79F8-CE41-A3D6-401BEF22B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271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13C32-E32E-7344-ACA5-CCD7805FB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98069-CB60-084C-8B31-1CCC3F789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28429-3605-C143-9BE7-071EFB713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6AF37-A9E1-A94E-9C40-EC7351D2B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C7CF2-BB51-FF47-8936-A549A46A9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640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E25AB-DA86-A94B-B3DE-B5F5D2ED6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B6016C-BE29-2845-BB7A-8219159E1D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227E1-FE2C-9A41-9AF6-B030FDCB2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3EBB0-B4C0-AA48-AA81-B79B97EE8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AD30A-EF73-4B48-9C25-C992FA996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703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6F28D-AFF8-B44E-A0AD-4DCC28B46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9F214-F2BE-DB4A-A407-5ED35332F3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948F6-4768-4C47-8B48-7BC98D5B4A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067C19-F4E0-7D46-9CA1-83761EEA0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13E859-BEA6-194D-AC83-283F6E38C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E803D0-0B11-FD4C-A515-2D412A997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478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C938A-E0B9-7E4E-8A1C-A81F1A33C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3BAF1B-8BCB-3547-A615-C0A7BDE65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471805-F6C6-324B-8D4C-89E65621EC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F4A57D-3F3B-F148-B0D6-EA237D44DB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EEDDE7-955E-A745-8C3B-4C67781D20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32BE42-0491-D64F-B3AC-C3B93CD29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17B7FD-A56A-A54D-A22D-384356C7E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37B1DB-05D4-E54A-8D0C-75860E1B0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44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50357-3468-514B-AB43-57E061DE8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DD93AB-8859-6C49-B6B8-D6EB6F1AC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5DFBCD-95AF-184F-9A41-1BC4B554C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C7E435-AD19-5045-AD4B-43C3F49DA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222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9DFA6-D31F-BC41-A988-80BC1EDA0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748783-B52F-564E-A4AC-627969965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8941E6-4F93-AD4E-9FB5-1A5D3F29A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240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56D9D-28AD-B54B-9AFB-CC2E8629A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DBD15-B104-D843-9C5F-24F03C3D3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39ADEF-817C-6144-BBE8-6C6F5FF667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DF2D01-6CAA-C747-AF7C-C99A7C1CF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316778-A9DE-C948-A454-72FC9843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0BAA91-C572-6442-B2D0-9C719C4E8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81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CD0CA-6569-1941-BC09-D12EC29B8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18C7B6-5AB3-C245-9EAB-92FA4EA0A4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EA64C7-85B6-7544-841E-6CAAB15F90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895D94-B116-9446-859A-3224B9373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5DF3B2-7AED-D747-BAC9-56DFCE5B8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779C8-B16A-E640-881D-1A384E569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149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A2790-00BF-4449-A894-ADF965B54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2DBFA1-E96E-8D44-B1F5-574698D726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74BCA-B5AA-114A-B767-CD1B6AB91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ADAE4-4B25-B049-8E3D-28C44A936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35D0E-164D-DA48-86A1-A3670CACC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249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C9E70D-6584-E644-99F0-EF5FC9940B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7C47F0-000C-A145-9BA2-5B758EFF9B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50EE1-EF8A-9944-AB50-06703890E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1124-1A9B-3D47-8EA4-BB13BEDD95F8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14EC3-8962-9749-9A7D-445912EF8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01B34-9C69-E945-A5A1-045C66F5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642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1B3145-CBC6-AB47-BE05-44DF56589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4DE012-5655-E14F-A6D4-1EBB490C8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D57DF-544F-5247-AE20-E2489D05F4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871124-1A9B-3D47-8EA4-BB13BEDD95F8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ADB09-ACE8-F84C-AAF3-33FE0126F5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79659-724B-BA40-9BC9-BD93702DA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307471-9A48-4549-AB7E-9A0DA2C1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834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mailto:jpspeng@uw.edu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jpspeng.github.io/crisp_notes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D3BA3-0159-9C47-B735-988554F3F7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Creating a Table 1 and hypothesis testing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0E3200-E3B8-0145-9CBF-A4F65F626D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CRISP R Mini-Course</a:t>
            </a:r>
          </a:p>
          <a:p>
            <a:r>
              <a:rPr lang="en-US" dirty="0"/>
              <a:t>2026 </a:t>
            </a:r>
          </a:p>
          <a:p>
            <a:r>
              <a:rPr lang="en-US" dirty="0"/>
              <a:t>Day 5</a:t>
            </a:r>
          </a:p>
        </p:txBody>
      </p:sp>
    </p:spTree>
    <p:extLst>
      <p:ext uri="{BB962C8B-B14F-4D97-AF65-F5344CB8AC3E}">
        <p14:creationId xmlns:p14="http://schemas.microsoft.com/office/powerpoint/2010/main" val="1871176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8E758-0415-8B4A-831F-8B11E796A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from last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73290-D335-E847-A6F0-11A6C0ECD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5693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does the code below do? Explain to your neighbor!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1F6C81-FF90-AB42-9AFE-42A069AE2FFF}"/>
              </a:ext>
            </a:extLst>
          </p:cNvPr>
          <p:cNvSpPr txBox="1"/>
          <p:nvPr/>
        </p:nvSpPr>
        <p:spPr>
          <a:xfrm>
            <a:off x="1450928" y="2828835"/>
            <a:ext cx="8965817" cy="313932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ibrary(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dplyr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 marL="0" indent="0"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df &lt;-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read.csv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data.csv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”)</a:t>
            </a:r>
          </a:p>
          <a:p>
            <a:pPr marL="0" indent="0"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df_new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df %&gt;%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mutate(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age_months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age * 12) %&gt;% 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filter(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tx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== 1 &amp;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age_months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&gt; 100)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df_new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%&gt;%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group_by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(sex) %&gt;%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summarise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mean_age_months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mean(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age_months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na.rm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T))</a:t>
            </a:r>
          </a:p>
        </p:txBody>
      </p:sp>
    </p:spTree>
    <p:extLst>
      <p:ext uri="{BB962C8B-B14F-4D97-AF65-F5344CB8AC3E}">
        <p14:creationId xmlns:p14="http://schemas.microsoft.com/office/powerpoint/2010/main" val="2947120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E4627-07E8-7145-B8CC-3D69A0F1F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 2 posted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1ED0E-413C-224E-B383-6D5FB8386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Optional but encouraged! 	</a:t>
            </a:r>
          </a:p>
          <a:p>
            <a:pPr lvl="1"/>
            <a:r>
              <a:rPr lang="en-US" dirty="0"/>
              <a:t>Should take ~15-30 minutes </a:t>
            </a:r>
            <a:endParaRPr lang="en-US" dirty="0">
              <a:solidFill>
                <a:srgbClr val="0563C1"/>
              </a:solidFill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457200" lvl="1" indent="0">
              <a:buNone/>
            </a:pPr>
            <a:endParaRPr lang="en-US" dirty="0">
              <a:solidFill>
                <a:srgbClr val="0563C1"/>
              </a:solidFill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dirty="0">
                <a:solidFill>
                  <a:srgbClr val="0563C1"/>
                </a:solidFill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bit.ly/crisp2026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Email me the saved RMD </a:t>
            </a:r>
            <a:r>
              <a:rPr lang="en-US"/>
              <a:t>file at </a:t>
            </a:r>
            <a:r>
              <a:rPr lang="en-US" dirty="0">
                <a:hlinkClick r:id="rId2"/>
              </a:rPr>
              <a:t>jpspeng@uw.edu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51589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337CF-B6AF-354D-9EFD-6BA1814EB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352"/>
            <a:ext cx="10515600" cy="1325563"/>
          </a:xfrm>
        </p:spPr>
        <p:txBody>
          <a:bodyPr/>
          <a:lstStyle/>
          <a:p>
            <a:r>
              <a:rPr lang="en-US" dirty="0"/>
              <a:t>Today’s 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60ABE-128B-C94D-94BD-98A057506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2447"/>
            <a:ext cx="10515600" cy="4351338"/>
          </a:xfrm>
        </p:spPr>
        <p:txBody>
          <a:bodyPr/>
          <a:lstStyle/>
          <a:p>
            <a:r>
              <a:rPr lang="en-US" dirty="0"/>
              <a:t>Factor variables, create “Table 1” </a:t>
            </a:r>
            <a:endParaRPr lang="en-US" dirty="0">
              <a:latin typeface="Courier" pitchFamily="2" charset="0"/>
            </a:endParaRPr>
          </a:p>
          <a:p>
            <a:r>
              <a:rPr lang="en-US" dirty="0"/>
              <a:t>Hypothesis testing comparing means and proportions</a:t>
            </a:r>
          </a:p>
          <a:p>
            <a:r>
              <a:rPr lang="en-US" dirty="0"/>
              <a:t>Midterm practicum </a:t>
            </a:r>
          </a:p>
        </p:txBody>
      </p:sp>
      <p:pic>
        <p:nvPicPr>
          <p:cNvPr id="4" name="Picture 2" descr="The baseline characteristics for the categorical variables. | Download ...">
            <a:extLst>
              <a:ext uri="{FF2B5EF4-FFF2-40B4-BE49-F238E27FC236}">
                <a16:creationId xmlns:a16="http://schemas.microsoft.com/office/drawing/2014/main" id="{36023D66-C16F-1D48-B497-CA8841E884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972"/>
          <a:stretch/>
        </p:blipFill>
        <p:spPr bwMode="auto">
          <a:xfrm>
            <a:off x="6096000" y="3397401"/>
            <a:ext cx="5729009" cy="1778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Mean values ± standard deviations and proportions of baseline ...">
            <a:extLst>
              <a:ext uri="{FF2B5EF4-FFF2-40B4-BE49-F238E27FC236}">
                <a16:creationId xmlns:a16="http://schemas.microsoft.com/office/drawing/2014/main" id="{84768578-C767-3C41-A95C-04DC43DE31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445"/>
          <a:stretch/>
        </p:blipFill>
        <p:spPr bwMode="auto">
          <a:xfrm>
            <a:off x="511672" y="3351300"/>
            <a:ext cx="4969966" cy="1954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2A53D5F-D916-8545-A2A6-8E5EC07DC290}"/>
              </a:ext>
            </a:extLst>
          </p:cNvPr>
          <p:cNvCxnSpPr>
            <a:cxnSpLocks/>
          </p:cNvCxnSpPr>
          <p:nvPr/>
        </p:nvCxnSpPr>
        <p:spPr>
          <a:xfrm flipH="1" flipV="1">
            <a:off x="5177481" y="5424616"/>
            <a:ext cx="1337620" cy="63328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F320BF1-1E4A-1F47-AAD0-D1D1E3D8EBA5}"/>
              </a:ext>
            </a:extLst>
          </p:cNvPr>
          <p:cNvCxnSpPr>
            <a:cxnSpLocks/>
          </p:cNvCxnSpPr>
          <p:nvPr/>
        </p:nvCxnSpPr>
        <p:spPr>
          <a:xfrm flipV="1">
            <a:off x="6710364" y="5045935"/>
            <a:ext cx="4643436" cy="101196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B7CF044-32EC-A047-854C-B9E934086B26}"/>
              </a:ext>
            </a:extLst>
          </p:cNvPr>
          <p:cNvSpPr txBox="1"/>
          <p:nvPr/>
        </p:nvSpPr>
        <p:spPr>
          <a:xfrm>
            <a:off x="4819136" y="6192409"/>
            <a:ext cx="4300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will learn how to obtain these p-values! </a:t>
            </a:r>
          </a:p>
        </p:txBody>
      </p:sp>
    </p:spTree>
    <p:extLst>
      <p:ext uri="{BB962C8B-B14F-4D97-AF65-F5344CB8AC3E}">
        <p14:creationId xmlns:p14="http://schemas.microsoft.com/office/powerpoint/2010/main" val="658860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8E758-0415-8B4A-831F-8B11E796A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 testing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E73290-D335-E847-A6F0-11A6C0ECDF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With a hypothesis test, we test a </a:t>
                </a:r>
                <a:r>
                  <a:rPr lang="en-US" b="1" dirty="0">
                    <a:solidFill>
                      <a:schemeClr val="accent6"/>
                    </a:solidFill>
                  </a:rPr>
                  <a:t>null hypothesis</a:t>
                </a:r>
                <a:r>
                  <a:rPr lang="en-US" dirty="0"/>
                  <a:t>. For example, we may have the following data: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u="sng" dirty="0"/>
                  <a:t>No treatment arm ages</a:t>
                </a:r>
                <a:r>
                  <a:rPr lang="en-US" dirty="0"/>
                  <a:t>: 15, 20, 13, 17, 18, 25, 28</a:t>
                </a:r>
              </a:p>
              <a:p>
                <a:pPr marL="0" indent="0">
                  <a:buNone/>
                </a:pPr>
                <a:r>
                  <a:rPr lang="en-US" u="sng" dirty="0"/>
                  <a:t>Treatment arm ages</a:t>
                </a:r>
                <a:r>
                  <a:rPr lang="en-US" dirty="0"/>
                  <a:t>: 54, 52, 30, 20, 19, 60, 85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𝑀𝑒𝑎𝑛𝐴𝑔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𝑡𝑟𝑒𝑎𝑡𝑚𝑒𝑛𝑡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𝑀𝑒𝑎𝑛𝐴𝑔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𝑛𝑜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𝑡𝑟𝑒𝑎𝑡𝑚𝑒𝑛𝑡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We set an alpha value (often 0.05). If the p-value is less than alpha, then we </a:t>
                </a:r>
                <a:r>
                  <a:rPr lang="en-US" b="1" dirty="0">
                    <a:solidFill>
                      <a:schemeClr val="accent2"/>
                    </a:solidFill>
                  </a:rPr>
                  <a:t>reject the null hypothesis</a:t>
                </a:r>
                <a:r>
                  <a:rPr lang="en-US" dirty="0"/>
                  <a:t>. In this case, we would say: </a:t>
                </a:r>
              </a:p>
              <a:p>
                <a:pPr marL="0" indent="0">
                  <a:buNone/>
                </a:pPr>
                <a:r>
                  <a:rPr lang="en-US" i="1" dirty="0"/>
                  <a:t>“We found a </a:t>
                </a:r>
                <a:r>
                  <a:rPr lang="en-US" b="1" i="1" dirty="0">
                    <a:solidFill>
                      <a:schemeClr val="accent2"/>
                    </a:solidFill>
                  </a:rPr>
                  <a:t>significant difference </a:t>
                </a:r>
                <a:r>
                  <a:rPr lang="en-US" i="1" dirty="0"/>
                  <a:t>between the mean age in the treatment the control arms (p = ___).”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E73290-D335-E847-A6F0-11A6C0ECDF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1086" t="-3252" r="-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3879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A3246-8BFB-9B42-952E-1F19D8501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 testing in Table 1’s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0DCF963-58B3-5646-8776-E481D6927741}"/>
              </a:ext>
            </a:extLst>
          </p:cNvPr>
          <p:cNvGraphicFramePr>
            <a:graphicFrameLocks noGrp="1"/>
          </p:cNvGraphicFramePr>
          <p:nvPr/>
        </p:nvGraphicFramePr>
        <p:xfrm>
          <a:off x="178485" y="1542407"/>
          <a:ext cx="11597503" cy="3916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7007">
                  <a:extLst>
                    <a:ext uri="{9D8B030D-6E8A-4147-A177-3AD203B41FA5}">
                      <a16:colId xmlns:a16="http://schemas.microsoft.com/office/drawing/2014/main" val="583942717"/>
                    </a:ext>
                  </a:extLst>
                </a:gridCol>
                <a:gridCol w="1124465">
                  <a:extLst>
                    <a:ext uri="{9D8B030D-6E8A-4147-A177-3AD203B41FA5}">
                      <a16:colId xmlns:a16="http://schemas.microsoft.com/office/drawing/2014/main" val="2145650238"/>
                    </a:ext>
                  </a:extLst>
                </a:gridCol>
                <a:gridCol w="1235675">
                  <a:extLst>
                    <a:ext uri="{9D8B030D-6E8A-4147-A177-3AD203B41FA5}">
                      <a16:colId xmlns:a16="http://schemas.microsoft.com/office/drawing/2014/main" val="1715828265"/>
                    </a:ext>
                  </a:extLst>
                </a:gridCol>
                <a:gridCol w="877330">
                  <a:extLst>
                    <a:ext uri="{9D8B030D-6E8A-4147-A177-3AD203B41FA5}">
                      <a16:colId xmlns:a16="http://schemas.microsoft.com/office/drawing/2014/main" val="4191489220"/>
                    </a:ext>
                  </a:extLst>
                </a:gridCol>
                <a:gridCol w="1186249">
                  <a:extLst>
                    <a:ext uri="{9D8B030D-6E8A-4147-A177-3AD203B41FA5}">
                      <a16:colId xmlns:a16="http://schemas.microsoft.com/office/drawing/2014/main" val="394116323"/>
                    </a:ext>
                  </a:extLst>
                </a:gridCol>
                <a:gridCol w="2533135">
                  <a:extLst>
                    <a:ext uri="{9D8B030D-6E8A-4147-A177-3AD203B41FA5}">
                      <a16:colId xmlns:a16="http://schemas.microsoft.com/office/drawing/2014/main" val="624101484"/>
                    </a:ext>
                  </a:extLst>
                </a:gridCol>
                <a:gridCol w="2273642">
                  <a:extLst>
                    <a:ext uri="{9D8B030D-6E8A-4147-A177-3AD203B41FA5}">
                      <a16:colId xmlns:a16="http://schemas.microsoft.com/office/drawing/2014/main" val="10776679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Placebo (N= 1000)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Treatment (N = 1000)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p-value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Test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Null Hypothesis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Interpretation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283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Age [Mean (</a:t>
                      </a:r>
                      <a:r>
                        <a:rPr lang="en-US" sz="1600" dirty="0" err="1"/>
                        <a:t>sd</a:t>
                      </a:r>
                      <a:r>
                        <a:rPr lang="en-US" sz="1600" dirty="0"/>
                        <a:t>)]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28.4 (10.5)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28.6 (9.4)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0.65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T-test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The means between placebo and treatment are the same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 significant difference in the means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3041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Sex – Male [n (%)]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490 (49%)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520 (52%)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600" dirty="0"/>
                        <a:t>0.20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600" dirty="0"/>
                        <a:t>Z-test or </a:t>
                      </a:r>
                    </a:p>
                    <a:p>
                      <a:r>
                        <a:rPr lang="en-US" sz="1600" dirty="0"/>
                        <a:t>Chi-squared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600" dirty="0"/>
                        <a:t>The proportion of males is the same between the two arms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600" dirty="0"/>
                        <a:t>No significant difference in the proportions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6593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          Female [n (%)]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510 (51%)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480 (48%)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9664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Severity – No [n (%)]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200 (20%)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500 (50%)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600" dirty="0"/>
                        <a:t>&lt;0.01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600" dirty="0"/>
                        <a:t>Chi-squared</a:t>
                      </a:r>
                    </a:p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600" dirty="0"/>
                        <a:t>The proportion of all three categories is the same between the arms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600" dirty="0"/>
                        <a:t>Significant difference in the proportion of each category comparing the two arms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8453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                  Medium [n (%)]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400 (40%)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300 (30%)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3515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                  High [n (%)]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400 (40%)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200 (20%)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050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Disease Score </a:t>
                      </a:r>
                    </a:p>
                    <a:p>
                      <a:r>
                        <a:rPr lang="en-US" sz="1600" dirty="0"/>
                        <a:t>[Mean (</a:t>
                      </a:r>
                      <a:r>
                        <a:rPr lang="en-US" sz="1600" dirty="0" err="1"/>
                        <a:t>sd</a:t>
                      </a:r>
                      <a:r>
                        <a:rPr lang="en-US" sz="1600" dirty="0"/>
                        <a:t>)]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45.2 (10.4)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30.2 (12.5)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&lt;0.01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T-test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50272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2726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4721E-82EC-3247-A973-9E9440AF7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Guided tutorial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707CF-5153-A54F-8DE6-7C592F79C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Today, we will learn the basics of dataset processing. </a:t>
            </a:r>
          </a:p>
          <a:p>
            <a:pPr marL="514350" indent="-514350">
              <a:buAutoNum type="arabicPeriod"/>
            </a:pPr>
            <a:r>
              <a:rPr lang="en-US" dirty="0"/>
              <a:t>Go to </a:t>
            </a:r>
            <a:r>
              <a:rPr lang="en-US" dirty="0">
                <a:hlinkClick r:id="rId3"/>
              </a:rPr>
              <a:t>bit.ly/crisp2026</a:t>
            </a:r>
            <a:r>
              <a:rPr lang="en-US" dirty="0"/>
              <a:t>. </a:t>
            </a:r>
          </a:p>
          <a:p>
            <a:pPr marL="514350" indent="-514350">
              <a:buAutoNum type="arabicPeriod"/>
            </a:pPr>
            <a:r>
              <a:rPr lang="en-US" dirty="0"/>
              <a:t>Download </a:t>
            </a:r>
            <a:r>
              <a:rPr lang="en-US" dirty="0" err="1"/>
              <a:t>Rmd</a:t>
            </a:r>
            <a:r>
              <a:rPr lang="en-US" dirty="0"/>
              <a:t> file for today into your CRISP R notes folder.</a:t>
            </a:r>
          </a:p>
          <a:p>
            <a:pPr marL="514350" indent="-514350">
              <a:buAutoNum type="arabicPeriod"/>
            </a:pPr>
            <a:r>
              <a:rPr lang="en-US" dirty="0"/>
              <a:t>We will go through the tutorial (until the exercises) together! Try to follow along, and type and run the code as I do it.   </a:t>
            </a:r>
          </a:p>
          <a:p>
            <a:pPr marL="514350" indent="-514350">
              <a:buAutoNum type="arabicPeriod"/>
            </a:pPr>
            <a:r>
              <a:rPr lang="en-US" dirty="0"/>
              <a:t>We’ll save 10 minutes at the end for the independent exercises.</a:t>
            </a:r>
          </a:p>
        </p:txBody>
      </p:sp>
    </p:spTree>
    <p:extLst>
      <p:ext uri="{BB962C8B-B14F-4D97-AF65-F5344CB8AC3E}">
        <p14:creationId xmlns:p14="http://schemas.microsoft.com/office/powerpoint/2010/main" val="3197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2933</TotalTime>
  <Words>542</Words>
  <Application>Microsoft Macintosh PowerPoint</Application>
  <PresentationFormat>Widescreen</PresentationFormat>
  <Paragraphs>90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Courier</vt:lpstr>
      <vt:lpstr>Courier New</vt:lpstr>
      <vt:lpstr>Office Theme</vt:lpstr>
      <vt:lpstr>Creating a Table 1 and hypothesis testing</vt:lpstr>
      <vt:lpstr>Review from last time</vt:lpstr>
      <vt:lpstr>Homework 2 posted</vt:lpstr>
      <vt:lpstr>Today’s agenda</vt:lpstr>
      <vt:lpstr>Hypothesis testing</vt:lpstr>
      <vt:lpstr>Hypothesis testing in Table 1’s</vt:lpstr>
      <vt:lpstr>Guided tutorial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R mini-course and R/RStudio </dc:title>
  <dc:creator>James Peng</dc:creator>
  <cp:lastModifiedBy>James Peng</cp:lastModifiedBy>
  <cp:revision>30</cp:revision>
  <dcterms:created xsi:type="dcterms:W3CDTF">2025-07-02T02:40:06Z</dcterms:created>
  <dcterms:modified xsi:type="dcterms:W3CDTF">2026-07-15T18:57:26Z</dcterms:modified>
</cp:coreProperties>
</file>