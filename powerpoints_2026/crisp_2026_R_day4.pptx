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93" r:id="rId2"/>
    <p:sldId id="272" r:id="rId3"/>
    <p:sldId id="294" r:id="rId4"/>
    <p:sldId id="295" r:id="rId5"/>
    <p:sldId id="274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9"/>
    <p:restoredTop sz="92757"/>
  </p:normalViewPr>
  <p:slideViewPr>
    <p:cSldViewPr snapToGrid="0" snapToObjects="1">
      <p:cViewPr varScale="1">
        <p:scale>
          <a:sx n="102" d="100"/>
          <a:sy n="102" d="100"/>
        </p:scale>
        <p:origin x="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8C89B-37FB-6044-B7FE-ED1648408672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04E14-BC01-2144-B361-12211DA86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6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04E14-BC01-2144-B361-12211DA864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04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04E14-BC01-2144-B361-12211DA864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54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07A4-7FBA-A04B-A7DA-C4446FDC5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E7AF0-B5A9-2348-B734-014748259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63960-24AC-3D48-A98C-F6FA25DD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8E35-DA94-F641-B351-5DE0500B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FC056-79F8-CE41-A3D6-401BEF22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7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3C32-E32E-7344-ACA5-CCD7805F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8069-CB60-084C-8B31-1CCC3F789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28429-3605-C143-9BE7-071EFB71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6AF37-A9E1-A94E-9C40-EC7351D2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C7CF2-BB51-FF47-8936-A549A46A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4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25AB-DA86-A94B-B3DE-B5F5D2ED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016C-BE29-2845-BB7A-8219159E1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227E1-FE2C-9A41-9AF6-B030FDCB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EBB0-B4C0-AA48-AA81-B79B97EE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AD30A-EF73-4B48-9C25-C992FA99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F28D-AFF8-B44E-A0AD-4DCC28B4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F214-F2BE-DB4A-A407-5ED35332F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48F6-4768-4C47-8B48-7BC98D5B4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67C19-F4E0-7D46-9CA1-83761EEA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3E859-BEA6-194D-AC83-283F6E3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803D0-0B11-FD4C-A515-2D412A99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7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938A-E0B9-7E4E-8A1C-A81F1A33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BAF1B-8BCB-3547-A615-C0A7BDE6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71805-F6C6-324B-8D4C-89E65621E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4A57D-3F3B-F148-B0D6-EA237D44D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EDDE7-955E-A745-8C3B-4C67781D2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32BE42-0491-D64F-B3AC-C3B93CD2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7B7FD-A56A-A54D-A22D-384356C7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37B1DB-05D4-E54A-8D0C-75860E1B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4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0357-3468-514B-AB43-57E061DE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D93AB-8859-6C49-B6B8-D6EB6F1A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DFBCD-95AF-184F-9A41-1BC4B554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E435-AD19-5045-AD4B-43C3F49D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2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9DFA6-D31F-BC41-A988-80BC1EDA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48783-B52F-564E-A4AC-62796996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941E6-4F93-AD4E-9FB5-1A5D3F29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4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6D9D-28AD-B54B-9AFB-CC2E8629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BD15-B104-D843-9C5F-24F03C3D3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9ADEF-817C-6144-BBE8-6C6F5FF66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F2D01-6CAA-C747-AF7C-C99A7C1C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16778-A9DE-C948-A454-72FC9843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BAA91-C572-6442-B2D0-9C719C4E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D0CA-6569-1941-BC09-D12EC29B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8C7B6-5AB3-C245-9EAB-92FA4EA0A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A64C7-85B6-7544-841E-6CAAB15F9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95D94-B116-9446-859A-3224B937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DF3B2-7AED-D747-BAC9-56DFCE5B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779C8-B16A-E640-881D-1A384E56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2790-00BF-4449-A894-ADF965B5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DBFA1-E96E-8D44-B1F5-574698D72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74BCA-B5AA-114A-B767-CD1B6AB9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ADAE4-4B25-B049-8E3D-28C44A93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35D0E-164D-DA48-86A1-A3670CAC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4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9E70D-6584-E644-99F0-EF5FC9940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C47F0-000C-A145-9BA2-5B758EFF9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50EE1-EF8A-9944-AB50-06703890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4EC3-8962-9749-9A7D-445912EF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1B34-9C69-E945-A5A1-045C66F5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4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B3145-CBC6-AB47-BE05-44DF5658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DE012-5655-E14F-A6D4-1EBB490C8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D57DF-544F-5247-AE20-E2489D05F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71124-1A9B-3D47-8EA4-BB13BEDD95F8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ADB09-ACE8-F84C-AAF3-33FE0126F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79659-724B-BA40-9BC9-BD93702DA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3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jpspeng@uw.ed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pspeng.github.io/crisp_note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3BA3-0159-9C47-B735-988554F3F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dplyr</a:t>
            </a:r>
            <a:r>
              <a:rPr lang="en-US" dirty="0"/>
              <a:t> and creating a Table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E3200-E3B8-0145-9CBF-A4F65F626D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CRISP R Mini-Course</a:t>
            </a:r>
          </a:p>
          <a:p>
            <a:r>
              <a:rPr lang="en-US" dirty="0"/>
              <a:t>2026 </a:t>
            </a:r>
          </a:p>
          <a:p>
            <a:r>
              <a:rPr lang="en-US" dirty="0"/>
              <a:t>Day 4</a:t>
            </a:r>
          </a:p>
        </p:txBody>
      </p:sp>
    </p:spTree>
    <p:extLst>
      <p:ext uri="{BB962C8B-B14F-4D97-AF65-F5344CB8AC3E}">
        <p14:creationId xmlns:p14="http://schemas.microsoft.com/office/powerpoint/2010/main" val="187117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E758-0415-8B4A-831F-8B11E796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from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3290-D335-E847-A6F0-11A6C0ECD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569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the code below do? Explain to your neighbor!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F6C81-FF90-AB42-9AFE-42A069AE2FFF}"/>
              </a:ext>
            </a:extLst>
          </p:cNvPr>
          <p:cNvSpPr txBox="1"/>
          <p:nvPr/>
        </p:nvSpPr>
        <p:spPr>
          <a:xfrm>
            <a:off x="2366375" y="2582562"/>
            <a:ext cx="7003093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ibrary(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df &lt;-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data.csv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df_new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df %&gt;%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mutate(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age_months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age * 12) %&gt;%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filter(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== 1 &amp;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age_months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100) %&gt;%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select(id,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sex,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age_months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educyrs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789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C355-BA9D-374A-A07B-8FFDF3A5B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week, we…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9985058-0AD8-9C4C-A955-738C9A747EA5}"/>
              </a:ext>
            </a:extLst>
          </p:cNvPr>
          <p:cNvSpPr txBox="1">
            <a:spLocks/>
          </p:cNvSpPr>
          <p:nvPr/>
        </p:nvSpPr>
        <p:spPr>
          <a:xfrm>
            <a:off x="368300" y="4386019"/>
            <a:ext cx="2667000" cy="1065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b="1" i="1"/>
              <a:t>Step 1</a:t>
            </a:r>
            <a:r>
              <a:rPr lang="en-US" sz="2500" i="1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/>
              <a:t>Read in dataset</a:t>
            </a:r>
            <a:endParaRPr lang="en-US" sz="2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AD1AF7-B2A7-E145-A143-1DDB4BBAA96D}"/>
              </a:ext>
            </a:extLst>
          </p:cNvPr>
          <p:cNvSpPr txBox="1"/>
          <p:nvPr/>
        </p:nvSpPr>
        <p:spPr>
          <a:xfrm>
            <a:off x="114300" y="5619951"/>
            <a:ext cx="3289300" cy="553998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dirty="0">
                <a:latin typeface="Courier" pitchFamily="2" charset="0"/>
              </a:rPr>
              <a:t>df &lt;-  </a:t>
            </a:r>
            <a:r>
              <a:rPr lang="en-US" sz="1500" dirty="0" err="1">
                <a:latin typeface="Courier" pitchFamily="2" charset="0"/>
              </a:rPr>
              <a:t>read.csv</a:t>
            </a:r>
            <a:r>
              <a:rPr lang="en-US" sz="1500" dirty="0">
                <a:latin typeface="Courier" pitchFamily="2" charset="0"/>
              </a:rPr>
              <a:t>(“</a:t>
            </a:r>
            <a:r>
              <a:rPr lang="en-US" sz="1500" dirty="0" err="1">
                <a:latin typeface="Courier" pitchFamily="2" charset="0"/>
              </a:rPr>
              <a:t>data.csv</a:t>
            </a:r>
            <a:r>
              <a:rPr lang="en-US" sz="1500" dirty="0">
                <a:latin typeface="Courier" pitchFamily="2" charset="0"/>
              </a:rPr>
              <a:t>”)</a:t>
            </a:r>
          </a:p>
          <a:p>
            <a:r>
              <a:rPr lang="en-US" sz="1500" dirty="0">
                <a:latin typeface="Courier" pitchFamily="2" charset="0"/>
              </a:rPr>
              <a:t>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503779-8DAF-4C41-9F8E-85A3C588085C}"/>
              </a:ext>
            </a:extLst>
          </p:cNvPr>
          <p:cNvSpPr txBox="1">
            <a:spLocks/>
          </p:cNvSpPr>
          <p:nvPr/>
        </p:nvSpPr>
        <p:spPr>
          <a:xfrm>
            <a:off x="3740150" y="1666876"/>
            <a:ext cx="3898900" cy="2943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b="1" i="1" dirty="0"/>
              <a:t>Step 2</a:t>
            </a:r>
            <a:r>
              <a:rPr lang="en-US" sz="2500" i="1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 dirty="0"/>
              <a:t>Clean/process your dataset</a:t>
            </a:r>
          </a:p>
          <a:p>
            <a:r>
              <a:rPr lang="en-US" sz="2500" dirty="0"/>
              <a:t>Filter rows </a:t>
            </a:r>
          </a:p>
          <a:p>
            <a:r>
              <a:rPr lang="en-US" sz="2500" dirty="0"/>
              <a:t>Select columns</a:t>
            </a:r>
          </a:p>
          <a:p>
            <a:r>
              <a:rPr lang="en-US" sz="2500" dirty="0"/>
              <a:t>Create new columns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E17F50-90D2-4441-BFF8-80CC1CC57AF0}"/>
              </a:ext>
            </a:extLst>
          </p:cNvPr>
          <p:cNvSpPr txBox="1"/>
          <p:nvPr/>
        </p:nvSpPr>
        <p:spPr>
          <a:xfrm>
            <a:off x="3740150" y="4386019"/>
            <a:ext cx="4116471" cy="1477328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dirty="0">
                <a:latin typeface="Courier" pitchFamily="2" charset="0"/>
              </a:rPr>
              <a:t>library(</a:t>
            </a:r>
            <a:r>
              <a:rPr lang="en-US" sz="1500" dirty="0" err="1">
                <a:latin typeface="Courier" pitchFamily="2" charset="0"/>
              </a:rPr>
              <a:t>dplyr</a:t>
            </a:r>
            <a:r>
              <a:rPr lang="en-US" sz="1500" dirty="0">
                <a:latin typeface="Courier" pitchFamily="2" charset="0"/>
              </a:rPr>
              <a:t>)</a:t>
            </a:r>
          </a:p>
          <a:p>
            <a:endParaRPr lang="en-US" sz="1500" dirty="0">
              <a:latin typeface="Courier" pitchFamily="2" charset="0"/>
            </a:endParaRPr>
          </a:p>
          <a:p>
            <a:r>
              <a:rPr lang="en-US" sz="1500" dirty="0" err="1">
                <a:latin typeface="Courier" pitchFamily="2" charset="0"/>
              </a:rPr>
              <a:t>df_new</a:t>
            </a:r>
            <a:r>
              <a:rPr lang="en-US" sz="1500" dirty="0">
                <a:latin typeface="Courier" pitchFamily="2" charset="0"/>
              </a:rPr>
              <a:t> &lt;- df %&gt;% </a:t>
            </a:r>
          </a:p>
          <a:p>
            <a:r>
              <a:rPr lang="en-US" sz="1500" dirty="0">
                <a:latin typeface="Courier" pitchFamily="2" charset="0"/>
              </a:rPr>
              <a:t>  filter(age &gt; 30) %&gt;% </a:t>
            </a:r>
          </a:p>
          <a:p>
            <a:r>
              <a:rPr lang="en-US" sz="1500" dirty="0">
                <a:latin typeface="Courier" pitchFamily="2" charset="0"/>
              </a:rPr>
              <a:t>  mutate(</a:t>
            </a:r>
            <a:r>
              <a:rPr lang="en-US" sz="1500" dirty="0" err="1">
                <a:latin typeface="Courier" pitchFamily="2" charset="0"/>
              </a:rPr>
              <a:t>tx_factor</a:t>
            </a:r>
            <a:r>
              <a:rPr lang="en-US" sz="1500" dirty="0">
                <a:latin typeface="Courier" pitchFamily="2" charset="0"/>
              </a:rPr>
              <a:t> = factor(</a:t>
            </a:r>
            <a:r>
              <a:rPr lang="en-US" sz="1500" dirty="0" err="1">
                <a:latin typeface="Courier" pitchFamily="2" charset="0"/>
              </a:rPr>
              <a:t>tx</a:t>
            </a:r>
            <a:r>
              <a:rPr lang="en-US" sz="1500" dirty="0">
                <a:latin typeface="Courier" pitchFamily="2" charset="0"/>
              </a:rPr>
              <a:t>), </a:t>
            </a:r>
          </a:p>
          <a:p>
            <a:r>
              <a:rPr lang="en-US" sz="1500" dirty="0">
                <a:latin typeface="Courier" pitchFamily="2" charset="0"/>
              </a:rPr>
              <a:t>         </a:t>
            </a:r>
            <a:r>
              <a:rPr lang="en-US" sz="1500" dirty="0" err="1">
                <a:latin typeface="Courier" pitchFamily="2" charset="0"/>
              </a:rPr>
              <a:t>htn_factor</a:t>
            </a:r>
            <a:r>
              <a:rPr lang="en-US" sz="1500" dirty="0">
                <a:latin typeface="Courier" pitchFamily="2" charset="0"/>
              </a:rPr>
              <a:t> = factor(</a:t>
            </a:r>
            <a:r>
              <a:rPr lang="en-US" sz="1500" dirty="0" err="1">
                <a:latin typeface="Courier" pitchFamily="2" charset="0"/>
              </a:rPr>
              <a:t>htn</a:t>
            </a:r>
            <a:r>
              <a:rPr lang="en-US" sz="1500" dirty="0">
                <a:latin typeface="Courier" pitchFamily="2" charset="0"/>
              </a:rPr>
              <a:t>))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DEE3BCC-047A-3144-9209-1C27C0E9F916}"/>
              </a:ext>
            </a:extLst>
          </p:cNvPr>
          <p:cNvSpPr txBox="1">
            <a:spLocks/>
          </p:cNvSpPr>
          <p:nvPr/>
        </p:nvSpPr>
        <p:spPr>
          <a:xfrm>
            <a:off x="409575" y="1723822"/>
            <a:ext cx="2667000" cy="1873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b="1" i="1" dirty="0"/>
              <a:t>Step 0</a:t>
            </a:r>
            <a:r>
              <a:rPr lang="en-US" sz="2500" i="1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 dirty="0"/>
              <a:t>Setup R </a:t>
            </a:r>
          </a:p>
          <a:p>
            <a:pPr>
              <a:buFontTx/>
              <a:buChar char="-"/>
            </a:pPr>
            <a:r>
              <a:rPr lang="en-US" sz="2500" dirty="0"/>
              <a:t>Organize folders </a:t>
            </a:r>
          </a:p>
          <a:p>
            <a:pPr>
              <a:buFontTx/>
              <a:buChar char="-"/>
            </a:pPr>
            <a:r>
              <a:rPr lang="en-US" sz="2500" dirty="0"/>
              <a:t>Install packages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F9751F-34E6-054F-BFAC-469DD22F55FE}"/>
              </a:ext>
            </a:extLst>
          </p:cNvPr>
          <p:cNvSpPr txBox="1"/>
          <p:nvPr/>
        </p:nvSpPr>
        <p:spPr>
          <a:xfrm>
            <a:off x="44366" y="3725684"/>
            <a:ext cx="1587667" cy="323165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dirty="0">
                <a:latin typeface="Courier" pitchFamily="2" charset="0"/>
              </a:rPr>
              <a:t># use base R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90E3F6-E0E2-4647-8F1E-CA6FED318938}"/>
              </a:ext>
            </a:extLst>
          </p:cNvPr>
          <p:cNvSpPr txBox="1"/>
          <p:nvPr/>
        </p:nvSpPr>
        <p:spPr>
          <a:xfrm>
            <a:off x="1892258" y="3725686"/>
            <a:ext cx="1682792" cy="323165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dirty="0">
                <a:latin typeface="Courier" pitchFamily="2" charset="0"/>
              </a:rPr>
              <a:t># use package</a:t>
            </a:r>
          </a:p>
        </p:txBody>
      </p:sp>
    </p:spTree>
    <p:extLst>
      <p:ext uri="{BB962C8B-B14F-4D97-AF65-F5344CB8AC3E}">
        <p14:creationId xmlns:p14="http://schemas.microsoft.com/office/powerpoint/2010/main" val="204403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43B37-EB9A-894D-A8B2-D5399809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03" y="0"/>
            <a:ext cx="10515600" cy="1325563"/>
          </a:xfrm>
        </p:spPr>
        <p:txBody>
          <a:bodyPr/>
          <a:lstStyle/>
          <a:p>
            <a:r>
              <a:rPr lang="en-US" dirty="0"/>
              <a:t>The next few weeks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5A48F-9549-3440-9F03-9696FDA42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703" y="1528497"/>
            <a:ext cx="4870948" cy="524468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This week</a:t>
            </a:r>
            <a:r>
              <a:rPr lang="en-US" dirty="0"/>
              <a:t>: We will learn how to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“Table 1”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hypothesis tests of comparisons between groups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and interpret linear regression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Next week</a:t>
            </a:r>
            <a:r>
              <a:rPr lang="en-US" dirty="0"/>
              <a:t>: Logistic regression, creating graphs, using AI tools  </a:t>
            </a:r>
          </a:p>
        </p:txBody>
      </p:sp>
      <p:pic>
        <p:nvPicPr>
          <p:cNvPr id="1026" name="Picture 2" descr="The baseline characteristics for the categorical variables. | Download ...">
            <a:extLst>
              <a:ext uri="{FF2B5EF4-FFF2-40B4-BE49-F238E27FC236}">
                <a16:creationId xmlns:a16="http://schemas.microsoft.com/office/drawing/2014/main" id="{71920F43-8F97-EF43-AC88-794CFE0F00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972"/>
          <a:stretch/>
        </p:blipFill>
        <p:spPr bwMode="auto">
          <a:xfrm>
            <a:off x="6096000" y="3261429"/>
            <a:ext cx="5729009" cy="177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an values ± standard deviations and proportions of baseline ...">
            <a:extLst>
              <a:ext uri="{FF2B5EF4-FFF2-40B4-BE49-F238E27FC236}">
                <a16:creationId xmlns:a16="http://schemas.microsoft.com/office/drawing/2014/main" id="{1FF79AC8-0E02-7C41-93BA-3277329B9D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445"/>
          <a:stretch/>
        </p:blipFill>
        <p:spPr bwMode="auto">
          <a:xfrm>
            <a:off x="6096000" y="988176"/>
            <a:ext cx="4969966" cy="195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A37BB2-3928-0144-BF71-8F4F12422324}"/>
              </a:ext>
            </a:extLst>
          </p:cNvPr>
          <p:cNvSpPr txBox="1"/>
          <p:nvPr/>
        </p:nvSpPr>
        <p:spPr>
          <a:xfrm>
            <a:off x="5869459" y="5229868"/>
            <a:ext cx="6042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Q: What is the null hypothesis for the p-values displayed on these tables? </a:t>
            </a:r>
          </a:p>
        </p:txBody>
      </p:sp>
    </p:spTree>
    <p:extLst>
      <p:ext uri="{BB962C8B-B14F-4D97-AF65-F5344CB8AC3E}">
        <p14:creationId xmlns:p14="http://schemas.microsoft.com/office/powerpoint/2010/main" val="117339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E4627-07E8-7145-B8CC-3D69A0F1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1 due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1ED0E-413C-224E-B383-6D5FB8386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but encouraged! 	</a:t>
            </a:r>
          </a:p>
          <a:p>
            <a:pPr lvl="1"/>
            <a:r>
              <a:rPr lang="en-US" dirty="0"/>
              <a:t>Should take ~15-30 minutes </a:t>
            </a:r>
            <a:endParaRPr lang="en-US" dirty="0">
              <a:solidFill>
                <a:srgbClr val="0563C1"/>
              </a:solidFill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lvl="1" indent="0">
              <a:buNone/>
            </a:pPr>
            <a:endParaRPr lang="en-US" dirty="0">
              <a:solidFill>
                <a:srgbClr val="0563C1"/>
              </a:solidFill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rgbClr val="0563C1"/>
                </a:solidFill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bit.ly/crisp2026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Email me the saved RMD </a:t>
            </a:r>
            <a:r>
              <a:rPr lang="en-US"/>
              <a:t>file at </a:t>
            </a:r>
            <a:r>
              <a:rPr lang="en-US" dirty="0">
                <a:hlinkClick r:id="rId2"/>
              </a:rPr>
              <a:t>jpspeng@uw.edu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158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721E-82EC-3247-A973-9E9440AF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Guided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707CF-5153-A54F-8DE6-7C592F79C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Today, we will learn the basics of dataset processing. </a:t>
            </a:r>
          </a:p>
          <a:p>
            <a:pPr marL="514350" indent="-514350">
              <a:buAutoNum type="arabicPeriod"/>
            </a:pPr>
            <a:r>
              <a:rPr lang="en-US" dirty="0"/>
              <a:t>Go to </a:t>
            </a:r>
            <a:r>
              <a:rPr lang="en-US" dirty="0">
                <a:hlinkClick r:id="rId3"/>
              </a:rPr>
              <a:t>bit.ly/crisp2026</a:t>
            </a:r>
            <a:r>
              <a:rPr lang="en-US" dirty="0"/>
              <a:t>. </a:t>
            </a:r>
          </a:p>
          <a:p>
            <a:pPr marL="514350" indent="-514350">
              <a:buAutoNum type="arabicPeriod"/>
            </a:pPr>
            <a:r>
              <a:rPr lang="en-US" dirty="0"/>
              <a:t>Download </a:t>
            </a:r>
            <a:r>
              <a:rPr lang="en-US" dirty="0" err="1"/>
              <a:t>Rmd</a:t>
            </a:r>
            <a:r>
              <a:rPr lang="en-US" dirty="0"/>
              <a:t> file for today into your CRISP R notes folder.</a:t>
            </a:r>
          </a:p>
          <a:p>
            <a:pPr marL="514350" indent="-514350">
              <a:buAutoNum type="arabicPeriod"/>
            </a:pPr>
            <a:r>
              <a:rPr lang="en-US" dirty="0"/>
              <a:t>We will go through the tutorial (until the exercises) together! Try to follow along, and type and run the code as I do it.   </a:t>
            </a:r>
          </a:p>
          <a:p>
            <a:pPr marL="514350" indent="-514350">
              <a:buAutoNum type="arabicPeriod"/>
            </a:pPr>
            <a:r>
              <a:rPr lang="en-US" dirty="0"/>
              <a:t>We’ll save 10 minutes at the end for the independent exercises.</a:t>
            </a:r>
          </a:p>
        </p:txBody>
      </p:sp>
    </p:spTree>
    <p:extLst>
      <p:ext uri="{BB962C8B-B14F-4D97-AF65-F5344CB8AC3E}">
        <p14:creationId xmlns:p14="http://schemas.microsoft.com/office/powerpoint/2010/main" val="3197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2930</TotalTime>
  <Words>347</Words>
  <Application>Microsoft Macintosh PowerPoint</Application>
  <PresentationFormat>Widescreen</PresentationFormat>
  <Paragraphs>59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</vt:lpstr>
      <vt:lpstr>Courier New</vt:lpstr>
      <vt:lpstr>Office Theme</vt:lpstr>
      <vt:lpstr>Using dplyr and creating a Table 1</vt:lpstr>
      <vt:lpstr>Review from last time</vt:lpstr>
      <vt:lpstr>Last week, we…</vt:lpstr>
      <vt:lpstr>The next few weeks</vt:lpstr>
      <vt:lpstr>Homework 1 due today</vt:lpstr>
      <vt:lpstr>Guided tutorial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 mini-course and R/RStudio </dc:title>
  <dc:creator>James Peng</dc:creator>
  <cp:lastModifiedBy>James Peng</cp:lastModifiedBy>
  <cp:revision>29</cp:revision>
  <dcterms:created xsi:type="dcterms:W3CDTF">2025-07-02T02:40:06Z</dcterms:created>
  <dcterms:modified xsi:type="dcterms:W3CDTF">2026-07-13T06:00:04Z</dcterms:modified>
</cp:coreProperties>
</file>