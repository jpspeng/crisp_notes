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84" r:id="rId4"/>
    <p:sldId id="273" r:id="rId5"/>
    <p:sldId id="285" r:id="rId6"/>
    <p:sldId id="286" r:id="rId7"/>
    <p:sldId id="283" r:id="rId8"/>
    <p:sldId id="275" r:id="rId9"/>
    <p:sldId id="280" r:id="rId10"/>
    <p:sldId id="276" r:id="rId11"/>
    <p:sldId id="279" r:id="rId12"/>
    <p:sldId id="277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2813"/>
  </p:normalViewPr>
  <p:slideViewPr>
    <p:cSldViewPr snapToGrid="0" snapToObjects="1">
      <p:cViewPr varScale="1">
        <p:scale>
          <a:sx n="102" d="100"/>
          <a:sy n="102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8C89B-37FB-6044-B7FE-ED164840867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04E14-BC01-2144-B361-12211DA86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6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307A4-7FBA-A04B-A7DA-C4446FDC5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E7AF0-B5A9-2348-B734-014748259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63960-24AC-3D48-A98C-F6FA25DD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B8E35-DA94-F641-B351-5DE0500B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FC056-79F8-CE41-A3D6-401BEF22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71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3C32-E32E-7344-ACA5-CCD7805FB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8069-CB60-084C-8B31-1CCC3F789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28429-3605-C143-9BE7-071EFB713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6AF37-A9E1-A94E-9C40-EC7351D2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C7CF2-BB51-FF47-8936-A549A46A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40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E25AB-DA86-A94B-B3DE-B5F5D2ED6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6016C-BE29-2845-BB7A-8219159E1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227E1-FE2C-9A41-9AF6-B030FDCB2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3EBB0-B4C0-AA48-AA81-B79B97EE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AD30A-EF73-4B48-9C25-C992FA99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03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F28D-AFF8-B44E-A0AD-4DCC28B4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9F214-F2BE-DB4A-A407-5ED35332F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48F6-4768-4C47-8B48-7BC98D5B4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67C19-F4E0-7D46-9CA1-83761EEA0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3E859-BEA6-194D-AC83-283F6E3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803D0-0B11-FD4C-A515-2D412A997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7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938A-E0B9-7E4E-8A1C-A81F1A33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BAF1B-8BCB-3547-A615-C0A7BDE65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71805-F6C6-324B-8D4C-89E65621E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F4A57D-3F3B-F148-B0D6-EA237D44D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EDDE7-955E-A745-8C3B-4C67781D2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32BE42-0491-D64F-B3AC-C3B93CD29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17B7FD-A56A-A54D-A22D-384356C7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37B1DB-05D4-E54A-8D0C-75860E1B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4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0357-3468-514B-AB43-57E061DE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D93AB-8859-6C49-B6B8-D6EB6F1A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DFBCD-95AF-184F-9A41-1BC4B554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7E435-AD19-5045-AD4B-43C3F49DA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22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9DFA6-D31F-BC41-A988-80BC1EDA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48783-B52F-564E-A4AC-62796996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941E6-4F93-AD4E-9FB5-1A5D3F29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4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6D9D-28AD-B54B-9AFB-CC2E8629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BD15-B104-D843-9C5F-24F03C3D3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9ADEF-817C-6144-BBE8-6C6F5FF66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F2D01-6CAA-C747-AF7C-C99A7C1C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16778-A9DE-C948-A454-72FC9843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BAA91-C572-6442-B2D0-9C719C4E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D0CA-6569-1941-BC09-D12EC29B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8C7B6-5AB3-C245-9EAB-92FA4EA0A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A64C7-85B6-7544-841E-6CAAB15F9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95D94-B116-9446-859A-3224B9373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DF3B2-7AED-D747-BAC9-56DFCE5B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779C8-B16A-E640-881D-1A384E56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49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2790-00BF-4449-A894-ADF965B5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DBFA1-E96E-8D44-B1F5-574698D72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74BCA-B5AA-114A-B767-CD1B6AB91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ADAE4-4B25-B049-8E3D-28C44A93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35D0E-164D-DA48-86A1-A3670CAC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4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9E70D-6584-E644-99F0-EF5FC9940B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C47F0-000C-A145-9BA2-5B758EFF9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50EE1-EF8A-9944-AB50-06703890E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14EC3-8962-9749-9A7D-445912EF8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1B34-9C69-E945-A5A1-045C66F5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4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B3145-CBC6-AB47-BE05-44DF56589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DE012-5655-E14F-A6D4-1EBB490C8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D57DF-544F-5247-AE20-E2489D05F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71124-1A9B-3D47-8EA4-BB13BEDD95F8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ADB09-ACE8-F84C-AAF3-33FE0126F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79659-724B-BA40-9BC9-BD93702DA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3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3BA3-0159-9C47-B735-988554F3F7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Adjusting for confounders in linear regression and 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0E3200-E3B8-0145-9CBF-A4F65F626D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CRISP R Mini-Course</a:t>
            </a:r>
          </a:p>
          <a:p>
            <a:r>
              <a:rPr lang="en-US" dirty="0"/>
              <a:t>2026 </a:t>
            </a:r>
          </a:p>
          <a:p>
            <a:r>
              <a:rPr lang="en-US" dirty="0"/>
              <a:t>Day 7</a:t>
            </a:r>
          </a:p>
        </p:txBody>
      </p:sp>
    </p:spTree>
    <p:extLst>
      <p:ext uri="{BB962C8B-B14F-4D97-AF65-F5344CB8AC3E}">
        <p14:creationId xmlns:p14="http://schemas.microsoft.com/office/powerpoint/2010/main" val="88239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8E758-0415-8B4A-831F-8B11E796A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from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3290-D335-E847-A6F0-11A6C0ECD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132"/>
            <a:ext cx="10515600" cy="1603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wish to determine the association between </a:t>
            </a:r>
            <a:r>
              <a:rPr lang="en-US" b="1" dirty="0">
                <a:solidFill>
                  <a:schemeClr val="accent1"/>
                </a:solidFill>
              </a:rPr>
              <a:t>disease severity score and treatment status (binary: treated/untreated)</a:t>
            </a:r>
            <a:r>
              <a:rPr lang="en-US" dirty="0"/>
              <a:t>. We run the following code in R, and obtain the output shown. </a:t>
            </a:r>
          </a:p>
          <a:p>
            <a:pPr marL="0" indent="0">
              <a:buNone/>
            </a:pPr>
            <a:r>
              <a:rPr lang="en-US" i="1" dirty="0"/>
              <a:t>Explain what this code does and how to interpret the results.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45221-2325-7640-93E6-459CFF9D5BFE}"/>
              </a:ext>
            </a:extLst>
          </p:cNvPr>
          <p:cNvSpPr txBox="1"/>
          <p:nvPr/>
        </p:nvSpPr>
        <p:spPr>
          <a:xfrm>
            <a:off x="937054" y="3319162"/>
            <a:ext cx="10196384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df is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with age,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(treated/untreated)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 &lt;-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disease_severity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data = df) 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summary(mod)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(mod) </a:t>
            </a:r>
          </a:p>
        </p:txBody>
      </p:sp>
      <p:pic>
        <p:nvPicPr>
          <p:cNvPr id="13" name="Picture 12" descr="A number and numbers on a white background&#10;&#10;Description automatically generated">
            <a:extLst>
              <a:ext uri="{FF2B5EF4-FFF2-40B4-BE49-F238E27FC236}">
                <a16:creationId xmlns:a16="http://schemas.microsoft.com/office/drawing/2014/main" id="{506DBE9B-08E5-E644-9A83-869467D925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164"/>
          <a:stretch>
            <a:fillRect/>
          </a:stretch>
        </p:blipFill>
        <p:spPr>
          <a:xfrm>
            <a:off x="937054" y="4872310"/>
            <a:ext cx="5735938" cy="1052501"/>
          </a:xfrm>
          <a:prstGeom prst="rect">
            <a:avLst/>
          </a:prstGeom>
        </p:spPr>
      </p:pic>
      <p:pic>
        <p:nvPicPr>
          <p:cNvPr id="15" name="Picture 14" descr="A number and a percent sign&#10;&#10;Description automatically generated with medium confidence">
            <a:extLst>
              <a:ext uri="{FF2B5EF4-FFF2-40B4-BE49-F238E27FC236}">
                <a16:creationId xmlns:a16="http://schemas.microsoft.com/office/drawing/2014/main" id="{D0CCB88D-2D1C-DB46-AA2E-2479101BEF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285"/>
          <a:stretch>
            <a:fillRect/>
          </a:stretch>
        </p:blipFill>
        <p:spPr>
          <a:xfrm>
            <a:off x="7304903" y="5038346"/>
            <a:ext cx="3950043" cy="8864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0C1974-1208-105A-8933-5A0194452EAD}"/>
              </a:ext>
            </a:extLst>
          </p:cNvPr>
          <p:cNvSpPr txBox="1"/>
          <p:nvPr/>
        </p:nvSpPr>
        <p:spPr>
          <a:xfrm>
            <a:off x="974632" y="5698580"/>
            <a:ext cx="104205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txTreated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4CC663-D8D2-B30C-F2A4-A3D69DFD4359}"/>
              </a:ext>
            </a:extLst>
          </p:cNvPr>
          <p:cNvSpPr txBox="1"/>
          <p:nvPr/>
        </p:nvSpPr>
        <p:spPr>
          <a:xfrm>
            <a:off x="7367533" y="5610234"/>
            <a:ext cx="104205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txTreated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895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87D5A-59EF-3D4F-82C8-B8D9BEE07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CEE7E-9521-2542-AB9F-B60FD97AA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4795" cy="4351338"/>
          </a:xfrm>
        </p:spPr>
        <p:txBody>
          <a:bodyPr>
            <a:normAutofit/>
          </a:bodyPr>
          <a:lstStyle/>
          <a:p>
            <a:r>
              <a:rPr lang="en-US" dirty="0"/>
              <a:t>Friday’s tutorial updated with linear regression with categorical variables (including how to reorder factor variables) </a:t>
            </a:r>
          </a:p>
          <a:p>
            <a:r>
              <a:rPr lang="en-US" dirty="0"/>
              <a:t>Homework 3 (final exam) due on Thursday, July 23 </a:t>
            </a:r>
          </a:p>
          <a:p>
            <a:r>
              <a:rPr lang="en-US" dirty="0"/>
              <a:t>This week’s schedule: </a:t>
            </a:r>
          </a:p>
          <a:p>
            <a:pPr lvl="1"/>
            <a:r>
              <a:rPr lang="en-US" b="1" dirty="0"/>
              <a:t>Today</a:t>
            </a:r>
            <a:r>
              <a:rPr lang="en-US" dirty="0"/>
              <a:t>: Logistic regression </a:t>
            </a:r>
          </a:p>
          <a:p>
            <a:pPr lvl="1"/>
            <a:r>
              <a:rPr lang="en-US" b="1" dirty="0"/>
              <a:t>Wednesday</a:t>
            </a:r>
            <a:r>
              <a:rPr lang="en-US" dirty="0"/>
              <a:t>: Plotting using </a:t>
            </a:r>
            <a:r>
              <a:rPr lang="en-US" sz="2000" dirty="0">
                <a:latin typeface="Courier" pitchFamily="2" charset="0"/>
              </a:rPr>
              <a:t>ggplot2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using AI tools, and review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Will post additional tutorials on website on Wednesday </a:t>
            </a:r>
          </a:p>
        </p:txBody>
      </p:sp>
    </p:spTree>
    <p:extLst>
      <p:ext uri="{BB962C8B-B14F-4D97-AF65-F5344CB8AC3E}">
        <p14:creationId xmlns:p14="http://schemas.microsoft.com/office/powerpoint/2010/main" val="3201665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37CF-B6AF-354D-9EFD-6BA1814E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352"/>
            <a:ext cx="10515600" cy="1325563"/>
          </a:xfrm>
        </p:spPr>
        <p:txBody>
          <a:bodyPr/>
          <a:lstStyle/>
          <a:p>
            <a:r>
              <a:rPr lang="en-US" dirty="0"/>
              <a:t>Today’s agenda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F5E041-1D36-CB46-88CB-C074B822C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923"/>
            <a:ext cx="10515600" cy="4351338"/>
          </a:xfrm>
        </p:spPr>
        <p:txBody>
          <a:bodyPr/>
          <a:lstStyle/>
          <a:p>
            <a:r>
              <a:rPr lang="en-US" dirty="0"/>
              <a:t>Adding adjustment variables in linear regression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Logistic regression – conceptual tutorial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Running and interpreting logistic regression in R </a:t>
            </a:r>
          </a:p>
        </p:txBody>
      </p:sp>
    </p:spTree>
    <p:extLst>
      <p:ext uri="{BB962C8B-B14F-4D97-AF65-F5344CB8AC3E}">
        <p14:creationId xmlns:p14="http://schemas.microsoft.com/office/powerpoint/2010/main" val="658860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37CF-B6AF-354D-9EFD-6BA1814E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352"/>
            <a:ext cx="10515600" cy="1325563"/>
          </a:xfrm>
        </p:spPr>
        <p:txBody>
          <a:bodyPr/>
          <a:lstStyle/>
          <a:p>
            <a:r>
              <a:rPr lang="en-US" dirty="0"/>
              <a:t>Linear regression w/ adjustment variable (1)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F5E041-1D36-CB46-88CB-C074B822C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923"/>
            <a:ext cx="10515600" cy="4351338"/>
          </a:xfrm>
        </p:spPr>
        <p:txBody>
          <a:bodyPr/>
          <a:lstStyle/>
          <a:p>
            <a:r>
              <a:rPr lang="en-US" dirty="0"/>
              <a:t>We are trying to determine if a </a:t>
            </a:r>
            <a:r>
              <a:rPr lang="en-US" dirty="0">
                <a:solidFill>
                  <a:schemeClr val="accent2"/>
                </a:solidFill>
              </a:rPr>
              <a:t>disease severity score </a:t>
            </a:r>
            <a:r>
              <a:rPr lang="en-US" dirty="0"/>
              <a:t>is associated with </a:t>
            </a:r>
            <a:r>
              <a:rPr lang="en-US" dirty="0">
                <a:solidFill>
                  <a:schemeClr val="accent1"/>
                </a:solidFill>
              </a:rPr>
              <a:t>treatment status </a:t>
            </a:r>
            <a:r>
              <a:rPr lang="en-US" dirty="0"/>
              <a:t>adjusting for </a:t>
            </a:r>
            <a:r>
              <a:rPr lang="en-US" dirty="0">
                <a:solidFill>
                  <a:schemeClr val="accent6"/>
                </a:solidFill>
              </a:rPr>
              <a:t>age</a:t>
            </a:r>
            <a:r>
              <a:rPr lang="en-US" dirty="0">
                <a:solidFill>
                  <a:schemeClr val="accent1"/>
                </a:solidFill>
              </a:rPr>
              <a:t>. </a:t>
            </a:r>
            <a:r>
              <a:rPr lang="en-US" dirty="0"/>
              <a:t>We obtain data from an observational study with all variables. </a:t>
            </a:r>
          </a:p>
          <a:p>
            <a:r>
              <a:rPr lang="en-US" dirty="0"/>
              <a:t>We answer this question using linear regression: </a:t>
            </a:r>
          </a:p>
          <a:p>
            <a:pPr lvl="1"/>
            <a:r>
              <a:rPr lang="en-US" b="1" dirty="0"/>
              <a:t>Outcome</a:t>
            </a:r>
            <a:r>
              <a:rPr lang="en-US" dirty="0"/>
              <a:t>: </a:t>
            </a:r>
            <a:r>
              <a:rPr lang="en-US" dirty="0">
                <a:solidFill>
                  <a:schemeClr val="accent2"/>
                </a:solidFill>
              </a:rPr>
              <a:t>Blood pressure </a:t>
            </a:r>
          </a:p>
          <a:p>
            <a:pPr lvl="1"/>
            <a:r>
              <a:rPr lang="en-US" b="1" dirty="0"/>
              <a:t>Exposure</a:t>
            </a:r>
            <a:r>
              <a:rPr lang="en-US" dirty="0"/>
              <a:t>: </a:t>
            </a:r>
            <a:r>
              <a:rPr lang="en-US" dirty="0">
                <a:solidFill>
                  <a:schemeClr val="accent1"/>
                </a:solidFill>
              </a:rPr>
              <a:t>Treatment status </a:t>
            </a:r>
          </a:p>
          <a:p>
            <a:pPr lvl="1"/>
            <a:r>
              <a:rPr lang="en-US" b="1" dirty="0"/>
              <a:t>Adjustment covariate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Age</a:t>
            </a:r>
            <a:r>
              <a:rPr lang="en-US" dirty="0"/>
              <a:t> </a:t>
            </a:r>
          </a:p>
          <a:p>
            <a:r>
              <a:rPr lang="en-US" dirty="0"/>
              <a:t>We do this in R and obtain the following output: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close-up of a number&#10;&#10;Description automatically generated">
            <a:extLst>
              <a:ext uri="{FF2B5EF4-FFF2-40B4-BE49-F238E27FC236}">
                <a16:creationId xmlns:a16="http://schemas.microsoft.com/office/drawing/2014/main" id="{0CE2827B-93A3-524A-8D7B-86F03A7D2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851" y="4909282"/>
            <a:ext cx="6916737" cy="155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916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37CF-B6AF-354D-9EFD-6BA1814E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352"/>
            <a:ext cx="10515600" cy="1325563"/>
          </a:xfrm>
        </p:spPr>
        <p:txBody>
          <a:bodyPr/>
          <a:lstStyle/>
          <a:p>
            <a:r>
              <a:rPr lang="en-US" dirty="0"/>
              <a:t>Linear regression w/ adjustment variable (2)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F5E041-1D36-CB46-88CB-C074B822C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923"/>
            <a:ext cx="10515600" cy="4351338"/>
          </a:xfrm>
        </p:spPr>
        <p:txBody>
          <a:bodyPr/>
          <a:lstStyle/>
          <a:p>
            <a:r>
              <a:rPr lang="en-US" sz="2400" dirty="0"/>
              <a:t>Linear regression: </a:t>
            </a:r>
          </a:p>
          <a:p>
            <a:pPr lvl="1"/>
            <a:r>
              <a:rPr lang="en-US" b="1" dirty="0"/>
              <a:t>Outcome</a:t>
            </a:r>
            <a:r>
              <a:rPr lang="en-US" dirty="0"/>
              <a:t>: </a:t>
            </a:r>
            <a:r>
              <a:rPr lang="en-US" dirty="0">
                <a:solidFill>
                  <a:schemeClr val="accent2"/>
                </a:solidFill>
              </a:rPr>
              <a:t>Blood pressure</a:t>
            </a:r>
          </a:p>
          <a:p>
            <a:pPr lvl="1"/>
            <a:r>
              <a:rPr lang="en-US" b="1" dirty="0"/>
              <a:t>Exposure</a:t>
            </a:r>
            <a:r>
              <a:rPr lang="en-US" dirty="0"/>
              <a:t>: </a:t>
            </a:r>
            <a:r>
              <a:rPr lang="en-US" dirty="0">
                <a:solidFill>
                  <a:schemeClr val="accent1"/>
                </a:solidFill>
              </a:rPr>
              <a:t>Treatment status </a:t>
            </a:r>
          </a:p>
          <a:p>
            <a:pPr lvl="1"/>
            <a:r>
              <a:rPr lang="en-US" b="1" dirty="0"/>
              <a:t>Adjustment covariate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Age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4" name="Picture 3" descr="A close-up of a number&#10;&#10;Description automatically generated">
            <a:extLst>
              <a:ext uri="{FF2B5EF4-FFF2-40B4-BE49-F238E27FC236}">
                <a16:creationId xmlns:a16="http://schemas.microsoft.com/office/drawing/2014/main" id="{0CE2827B-93A3-524A-8D7B-86F03A7D2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" y="3080481"/>
            <a:ext cx="6916737" cy="155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98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37CF-B6AF-354D-9EFD-6BA1814E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352"/>
            <a:ext cx="10515600" cy="1325563"/>
          </a:xfrm>
        </p:spPr>
        <p:txBody>
          <a:bodyPr/>
          <a:lstStyle/>
          <a:p>
            <a:r>
              <a:rPr lang="en-US" dirty="0"/>
              <a:t>Logistic regression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9F5E041-1D36-CB46-88CB-C074B822CF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4922"/>
                <a:ext cx="10515600" cy="482230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Linear regression – continuous outcomes (e.g. disease severity score) </a:t>
                </a:r>
              </a:p>
              <a:p>
                <a:pPr lvl="1"/>
                <a:r>
                  <a:rPr lang="en-US" dirty="0"/>
                  <a:t>Model: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𝑆𝑒𝑣𝑒𝑟𝑖𝑡𝑦𝑆𝑐𝑜𝑟𝑒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𝑇𝑥𝐷𝑜𝑠𝑒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Obtain estimates for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_________________________,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_______________________________</a:t>
                </a:r>
              </a:p>
              <a:p>
                <a:pPr marL="457200" lvl="1" indent="0">
                  <a:buNone/>
                </a:pPr>
                <a:r>
                  <a:rPr lang="en-US" dirty="0"/>
                  <a:t>          _________________________        _______________________________</a:t>
                </a:r>
              </a:p>
              <a:p>
                <a:r>
                  <a:rPr lang="en-US" dirty="0"/>
                  <a:t>Logistic regression – binary outcomes (e.g. disease incidence) </a:t>
                </a:r>
              </a:p>
              <a:p>
                <a:pPr lvl="1"/>
                <a:r>
                  <a:rPr lang="en-US" dirty="0"/>
                  <a:t>Model: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𝑂𝑑𝑑𝑠𝐷𝑖𝑠𝑒𝑎𝑠𝑒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𝑇𝑥𝐷𝑜𝑠𝑒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Obtain estimates for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How can we interpret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9F5E041-1D36-CB46-88CB-C074B822CF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4922"/>
                <a:ext cx="10515600" cy="4822309"/>
              </a:xfrm>
              <a:blipFill>
                <a:blip r:embed="rId2"/>
                <a:stretch>
                  <a:fillRect l="-1086" t="-2887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6138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37CF-B6AF-354D-9EFD-6BA1814E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352"/>
            <a:ext cx="10515600" cy="1325563"/>
          </a:xfrm>
        </p:spPr>
        <p:txBody>
          <a:bodyPr/>
          <a:lstStyle/>
          <a:p>
            <a:r>
              <a:rPr lang="en-US" dirty="0"/>
              <a:t>Logistic regression w/ binary variable (1)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F5E041-1D36-CB46-88CB-C074B822C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923"/>
            <a:ext cx="10515600" cy="4351338"/>
          </a:xfrm>
        </p:spPr>
        <p:txBody>
          <a:bodyPr/>
          <a:lstStyle/>
          <a:p>
            <a:r>
              <a:rPr lang="en-US" dirty="0"/>
              <a:t>We are trying to determine if a </a:t>
            </a:r>
            <a:r>
              <a:rPr lang="en-US" dirty="0">
                <a:solidFill>
                  <a:schemeClr val="accent2"/>
                </a:solidFill>
              </a:rPr>
              <a:t>hypertension </a:t>
            </a:r>
            <a:r>
              <a:rPr lang="en-US" dirty="0"/>
              <a:t>is associated with </a:t>
            </a:r>
            <a:r>
              <a:rPr lang="en-US" dirty="0">
                <a:solidFill>
                  <a:schemeClr val="accent1"/>
                </a:solidFill>
              </a:rPr>
              <a:t>treatment status. </a:t>
            </a:r>
            <a:r>
              <a:rPr lang="en-US" dirty="0"/>
              <a:t>We obtain data from an observational study with both variables. </a:t>
            </a:r>
          </a:p>
          <a:p>
            <a:r>
              <a:rPr lang="en-US" dirty="0"/>
              <a:t>We can analyze this using logistic regression: </a:t>
            </a:r>
          </a:p>
          <a:p>
            <a:pPr lvl="1"/>
            <a:r>
              <a:rPr lang="en-US" b="1" dirty="0"/>
              <a:t>Outcome</a:t>
            </a:r>
            <a:r>
              <a:rPr lang="en-US" dirty="0"/>
              <a:t>: </a:t>
            </a:r>
            <a:r>
              <a:rPr lang="en-US" dirty="0">
                <a:solidFill>
                  <a:schemeClr val="accent2"/>
                </a:solidFill>
              </a:rPr>
              <a:t>Hypertension (binary)</a:t>
            </a:r>
          </a:p>
          <a:p>
            <a:pPr lvl="1"/>
            <a:r>
              <a:rPr lang="en-US" b="1" dirty="0"/>
              <a:t>Exposure</a:t>
            </a:r>
            <a:r>
              <a:rPr lang="en-US" dirty="0"/>
              <a:t>: </a:t>
            </a:r>
            <a:r>
              <a:rPr lang="en-US" dirty="0">
                <a:solidFill>
                  <a:schemeClr val="accent1"/>
                </a:solidFill>
              </a:rPr>
              <a:t>Treatment status </a:t>
            </a:r>
          </a:p>
          <a:p>
            <a:r>
              <a:rPr lang="en-US" dirty="0"/>
              <a:t>We do this in R and obtain the following output: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D6D3F66F-8559-1049-B46E-037B77C64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87" y="4535496"/>
            <a:ext cx="5975178" cy="124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773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37CF-B6AF-354D-9EFD-6BA1814E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352"/>
            <a:ext cx="10515600" cy="1325563"/>
          </a:xfrm>
        </p:spPr>
        <p:txBody>
          <a:bodyPr/>
          <a:lstStyle/>
          <a:p>
            <a:r>
              <a:rPr lang="en-US" dirty="0"/>
              <a:t>Logistic regression w/ binary variable (2) 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F5E041-1D36-CB46-88CB-C074B822C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923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Logistic regression: </a:t>
            </a:r>
          </a:p>
          <a:p>
            <a:pPr lvl="1"/>
            <a:r>
              <a:rPr lang="en-US" b="1" dirty="0"/>
              <a:t>Outcome</a:t>
            </a:r>
            <a:r>
              <a:rPr lang="en-US" dirty="0"/>
              <a:t>: </a:t>
            </a:r>
            <a:r>
              <a:rPr lang="en-US" dirty="0">
                <a:solidFill>
                  <a:schemeClr val="accent2"/>
                </a:solidFill>
              </a:rPr>
              <a:t>Hypertension (binary)</a:t>
            </a:r>
          </a:p>
          <a:p>
            <a:pPr lvl="1"/>
            <a:r>
              <a:rPr lang="en-US" b="1" dirty="0"/>
              <a:t>Exposure</a:t>
            </a:r>
            <a:r>
              <a:rPr lang="en-US" dirty="0"/>
              <a:t>: </a:t>
            </a:r>
            <a:r>
              <a:rPr lang="en-US" dirty="0">
                <a:solidFill>
                  <a:schemeClr val="accent1"/>
                </a:solidFill>
              </a:rPr>
              <a:t>Treatment status </a:t>
            </a:r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FE83D17-E516-E542-80A7-CA6B58AB7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2637606"/>
            <a:ext cx="5975178" cy="1241464"/>
          </a:xfrm>
          <a:prstGeom prst="rect">
            <a:avLst/>
          </a:prstGeom>
        </p:spPr>
      </p:pic>
      <p:pic>
        <p:nvPicPr>
          <p:cNvPr id="6" name="Picture 5" descr="A close up of numbers&#10;&#10;Description automatically generated">
            <a:extLst>
              <a:ext uri="{FF2B5EF4-FFF2-40B4-BE49-F238E27FC236}">
                <a16:creationId xmlns:a16="http://schemas.microsoft.com/office/drawing/2014/main" id="{13BA1CE4-AB3C-014C-B835-BDFD7BFA6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" y="4296376"/>
            <a:ext cx="2772429" cy="6517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F118C3-1DAD-D444-B0B8-1EEC7481442A}"/>
              </a:ext>
            </a:extLst>
          </p:cNvPr>
          <p:cNvSpPr txBox="1"/>
          <p:nvPr/>
        </p:nvSpPr>
        <p:spPr>
          <a:xfrm>
            <a:off x="500062" y="3927044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Exponentiated coefficients: </a:t>
            </a:r>
          </a:p>
        </p:txBody>
      </p:sp>
    </p:spTree>
    <p:extLst>
      <p:ext uri="{BB962C8B-B14F-4D97-AF65-F5344CB8AC3E}">
        <p14:creationId xmlns:p14="http://schemas.microsoft.com/office/powerpoint/2010/main" val="1418775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37CF-B6AF-354D-9EFD-6BA1814E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352"/>
            <a:ext cx="10515600" cy="1325563"/>
          </a:xfrm>
        </p:spPr>
        <p:txBody>
          <a:bodyPr/>
          <a:lstStyle/>
          <a:p>
            <a:r>
              <a:rPr lang="en-US" dirty="0"/>
              <a:t>Logistic regression w/ continuous variable (1)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F5E041-1D36-CB46-88CB-C074B822C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923"/>
            <a:ext cx="10727724" cy="4958234"/>
          </a:xfrm>
        </p:spPr>
        <p:txBody>
          <a:bodyPr>
            <a:normAutofit/>
          </a:bodyPr>
          <a:lstStyle/>
          <a:p>
            <a:r>
              <a:rPr lang="en-US" dirty="0"/>
              <a:t>We are trying to determine if a </a:t>
            </a:r>
            <a:r>
              <a:rPr lang="en-US" dirty="0">
                <a:solidFill>
                  <a:schemeClr val="accent2"/>
                </a:solidFill>
              </a:rPr>
              <a:t>odds of hypertension </a:t>
            </a:r>
            <a:r>
              <a:rPr lang="en-US" dirty="0"/>
              <a:t>is associated with </a:t>
            </a:r>
            <a:r>
              <a:rPr lang="en-US" dirty="0">
                <a:solidFill>
                  <a:schemeClr val="accent6"/>
                </a:solidFill>
              </a:rPr>
              <a:t>age</a:t>
            </a:r>
            <a:r>
              <a:rPr lang="en-US" dirty="0">
                <a:solidFill>
                  <a:schemeClr val="accent1"/>
                </a:solidFill>
              </a:rPr>
              <a:t>. </a:t>
            </a:r>
            <a:r>
              <a:rPr lang="en-US" dirty="0"/>
              <a:t>We obtain data from an observational study with both variables. </a:t>
            </a:r>
          </a:p>
          <a:p>
            <a:r>
              <a:rPr lang="en-US" dirty="0"/>
              <a:t>We answer this question using logistic regression: </a:t>
            </a:r>
          </a:p>
          <a:p>
            <a:pPr lvl="1"/>
            <a:r>
              <a:rPr lang="en-US" b="1" dirty="0"/>
              <a:t>Outcome</a:t>
            </a:r>
            <a:r>
              <a:rPr lang="en-US" dirty="0"/>
              <a:t>: </a:t>
            </a:r>
            <a:r>
              <a:rPr lang="en-US" dirty="0">
                <a:solidFill>
                  <a:schemeClr val="accent2"/>
                </a:solidFill>
              </a:rPr>
              <a:t>Hypertension (binary)</a:t>
            </a:r>
          </a:p>
          <a:p>
            <a:pPr lvl="1"/>
            <a:r>
              <a:rPr lang="en-US" b="1" dirty="0"/>
              <a:t>Exposure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Age</a:t>
            </a:r>
            <a:r>
              <a:rPr lang="en-US" dirty="0"/>
              <a:t> </a:t>
            </a:r>
          </a:p>
          <a:p>
            <a:r>
              <a:rPr lang="en-US" dirty="0"/>
              <a:t>We do this in R and obtain the following output: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can we interpret this output?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black text with numbers&#10;&#10;Description automatically generated">
            <a:extLst>
              <a:ext uri="{FF2B5EF4-FFF2-40B4-BE49-F238E27FC236}">
                <a16:creationId xmlns:a16="http://schemas.microsoft.com/office/drawing/2014/main" id="{25B7C225-8529-B341-8EB3-C09F08BB7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4186281"/>
            <a:ext cx="5843587" cy="123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788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4C51A-7BE5-C04D-A794-379BAC779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w/ continuous variable (2)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6A229-73A5-EC44-B2CD-371F428BA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52" y="1690688"/>
            <a:ext cx="10515600" cy="4351338"/>
          </a:xfrm>
        </p:spPr>
        <p:txBody>
          <a:bodyPr/>
          <a:lstStyle/>
          <a:p>
            <a:r>
              <a:rPr lang="en-US" sz="2400" dirty="0"/>
              <a:t>Logistic regression: </a:t>
            </a:r>
          </a:p>
          <a:p>
            <a:pPr lvl="1"/>
            <a:r>
              <a:rPr lang="en-US" b="1" dirty="0"/>
              <a:t>Outcome</a:t>
            </a:r>
            <a:r>
              <a:rPr lang="en-US" dirty="0"/>
              <a:t>: </a:t>
            </a:r>
            <a:r>
              <a:rPr lang="en-US" dirty="0">
                <a:solidFill>
                  <a:schemeClr val="accent2"/>
                </a:solidFill>
              </a:rPr>
              <a:t>Hypertension (binary)</a:t>
            </a:r>
          </a:p>
          <a:p>
            <a:pPr lvl="1"/>
            <a:r>
              <a:rPr lang="en-US" b="1" dirty="0"/>
              <a:t>Exposure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Age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5" name="Picture 4" descr="A black text with numbers&#10;&#10;Description automatically generated">
            <a:extLst>
              <a:ext uri="{FF2B5EF4-FFF2-40B4-BE49-F238E27FC236}">
                <a16:creationId xmlns:a16="http://schemas.microsoft.com/office/drawing/2014/main" id="{6F863D20-CEE7-D147-A261-A14F49916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52" y="2916235"/>
            <a:ext cx="5843587" cy="1234420"/>
          </a:xfrm>
          <a:prstGeom prst="rect">
            <a:avLst/>
          </a:prstGeom>
        </p:spPr>
      </p:pic>
      <p:pic>
        <p:nvPicPr>
          <p:cNvPr id="7" name="Picture 6" descr="A black text with numbers&#10;&#10;Description automatically generated with medium confidence">
            <a:extLst>
              <a:ext uri="{FF2B5EF4-FFF2-40B4-BE49-F238E27FC236}">
                <a16:creationId xmlns:a16="http://schemas.microsoft.com/office/drawing/2014/main" id="{EB9E9835-2A9E-BC47-9459-F1BD4E5E1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52" y="4599353"/>
            <a:ext cx="2639454" cy="6298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0AF4A2-0CD4-CD4C-8AF4-E4320AEF120D}"/>
              </a:ext>
            </a:extLst>
          </p:cNvPr>
          <p:cNvSpPr txBox="1"/>
          <p:nvPr/>
        </p:nvSpPr>
        <p:spPr>
          <a:xfrm>
            <a:off x="500062" y="4212800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Exponentiated coefficients: </a:t>
            </a:r>
          </a:p>
        </p:txBody>
      </p:sp>
    </p:spTree>
    <p:extLst>
      <p:ext uri="{BB962C8B-B14F-4D97-AF65-F5344CB8AC3E}">
        <p14:creationId xmlns:p14="http://schemas.microsoft.com/office/powerpoint/2010/main" val="2448285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37CF-B6AF-354D-9EFD-6BA1814E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352"/>
            <a:ext cx="10515600" cy="1325563"/>
          </a:xfrm>
        </p:spPr>
        <p:txBody>
          <a:bodyPr/>
          <a:lstStyle/>
          <a:p>
            <a:r>
              <a:rPr lang="en-US" dirty="0"/>
              <a:t>Logistic regression w/ adjustment variable (1)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F5E041-1D36-CB46-88CB-C074B822C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923"/>
            <a:ext cx="10515600" cy="4351338"/>
          </a:xfrm>
        </p:spPr>
        <p:txBody>
          <a:bodyPr/>
          <a:lstStyle/>
          <a:p>
            <a:r>
              <a:rPr lang="en-US" dirty="0"/>
              <a:t>We are trying to determine if a </a:t>
            </a:r>
            <a:r>
              <a:rPr lang="en-US" dirty="0">
                <a:solidFill>
                  <a:schemeClr val="accent2"/>
                </a:solidFill>
              </a:rPr>
              <a:t>odds of hypertension </a:t>
            </a:r>
            <a:r>
              <a:rPr lang="en-US" dirty="0"/>
              <a:t>is associated with </a:t>
            </a:r>
            <a:r>
              <a:rPr lang="en-US" dirty="0">
                <a:solidFill>
                  <a:schemeClr val="accent1"/>
                </a:solidFill>
              </a:rPr>
              <a:t>treatment status </a:t>
            </a:r>
            <a:r>
              <a:rPr lang="en-US" dirty="0"/>
              <a:t>adjusting for </a:t>
            </a:r>
            <a:r>
              <a:rPr lang="en-US" dirty="0">
                <a:solidFill>
                  <a:schemeClr val="accent6"/>
                </a:solidFill>
              </a:rPr>
              <a:t>age</a:t>
            </a:r>
            <a:r>
              <a:rPr lang="en-US" dirty="0">
                <a:solidFill>
                  <a:schemeClr val="accent1"/>
                </a:solidFill>
              </a:rPr>
              <a:t>. </a:t>
            </a:r>
            <a:r>
              <a:rPr lang="en-US" dirty="0"/>
              <a:t>We obtain data from an observational study with all variables. </a:t>
            </a:r>
          </a:p>
          <a:p>
            <a:r>
              <a:rPr lang="en-US" dirty="0"/>
              <a:t>We answer this question using logistic regression: </a:t>
            </a:r>
          </a:p>
          <a:p>
            <a:pPr lvl="1"/>
            <a:r>
              <a:rPr lang="en-US" b="1" dirty="0"/>
              <a:t>Outcome</a:t>
            </a:r>
            <a:r>
              <a:rPr lang="en-US" dirty="0"/>
              <a:t>: </a:t>
            </a:r>
            <a:r>
              <a:rPr lang="en-US" dirty="0">
                <a:solidFill>
                  <a:schemeClr val="accent2"/>
                </a:solidFill>
              </a:rPr>
              <a:t>Hypertension (binary)</a:t>
            </a:r>
          </a:p>
          <a:p>
            <a:pPr lvl="1"/>
            <a:r>
              <a:rPr lang="en-US" b="1" dirty="0"/>
              <a:t>Exposure</a:t>
            </a:r>
            <a:r>
              <a:rPr lang="en-US" dirty="0"/>
              <a:t>: </a:t>
            </a:r>
            <a:r>
              <a:rPr lang="en-US" dirty="0">
                <a:solidFill>
                  <a:schemeClr val="accent1"/>
                </a:solidFill>
              </a:rPr>
              <a:t>Treatment status </a:t>
            </a:r>
          </a:p>
          <a:p>
            <a:pPr lvl="1"/>
            <a:r>
              <a:rPr lang="en-US" b="1" dirty="0"/>
              <a:t>Adjustment covariate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Age</a:t>
            </a:r>
            <a:r>
              <a:rPr lang="en-US" dirty="0"/>
              <a:t> </a:t>
            </a:r>
          </a:p>
          <a:p>
            <a:r>
              <a:rPr lang="en-US" dirty="0"/>
              <a:t>We do this in R and obtain the following output: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237E761B-2976-974A-AD00-4138125CB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37" y="4914271"/>
            <a:ext cx="6484937" cy="151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36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37CF-B6AF-354D-9EFD-6BA1814E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352"/>
            <a:ext cx="10515600" cy="1325563"/>
          </a:xfrm>
        </p:spPr>
        <p:txBody>
          <a:bodyPr/>
          <a:lstStyle/>
          <a:p>
            <a:r>
              <a:rPr lang="en-US" dirty="0"/>
              <a:t>Logistic regression w/ adjustment variable (2)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F5E041-1D36-CB46-88CB-C074B822C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923"/>
            <a:ext cx="10515600" cy="4351338"/>
          </a:xfrm>
        </p:spPr>
        <p:txBody>
          <a:bodyPr/>
          <a:lstStyle/>
          <a:p>
            <a:r>
              <a:rPr lang="en-US" sz="2400" dirty="0"/>
              <a:t>Logistic regression: </a:t>
            </a:r>
          </a:p>
          <a:p>
            <a:pPr lvl="1"/>
            <a:r>
              <a:rPr lang="en-US" b="1" dirty="0"/>
              <a:t>Outcome</a:t>
            </a:r>
            <a:r>
              <a:rPr lang="en-US" dirty="0"/>
              <a:t>: </a:t>
            </a:r>
            <a:r>
              <a:rPr lang="en-US" dirty="0">
                <a:solidFill>
                  <a:schemeClr val="accent2"/>
                </a:solidFill>
              </a:rPr>
              <a:t>Hypertension (binary)</a:t>
            </a:r>
          </a:p>
          <a:p>
            <a:pPr lvl="1"/>
            <a:r>
              <a:rPr lang="en-US" b="1" dirty="0"/>
              <a:t>Exposure</a:t>
            </a:r>
            <a:r>
              <a:rPr lang="en-US" dirty="0"/>
              <a:t>: </a:t>
            </a:r>
            <a:r>
              <a:rPr lang="en-US" dirty="0">
                <a:solidFill>
                  <a:schemeClr val="accent1"/>
                </a:solidFill>
              </a:rPr>
              <a:t>Treatment status </a:t>
            </a:r>
          </a:p>
          <a:p>
            <a:pPr lvl="1"/>
            <a:r>
              <a:rPr lang="en-US" b="1" dirty="0"/>
              <a:t>Adjustment covariate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Age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A298639-F31E-D745-A1BB-BE42AB92E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79" y="2978585"/>
            <a:ext cx="5853068" cy="1370901"/>
          </a:xfrm>
          <a:prstGeom prst="rect">
            <a:avLst/>
          </a:prstGeom>
        </p:spPr>
      </p:pic>
      <p:pic>
        <p:nvPicPr>
          <p:cNvPr id="7" name="Picture 6" descr="A number on a white background&#10;&#10;Description automatically generated">
            <a:extLst>
              <a:ext uri="{FF2B5EF4-FFF2-40B4-BE49-F238E27FC236}">
                <a16:creationId xmlns:a16="http://schemas.microsoft.com/office/drawing/2014/main" id="{37DCDE49-3A33-024E-8A89-30C2ECF42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79" y="4993043"/>
            <a:ext cx="4274065" cy="6980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55AC6E-699A-E54B-B34E-9D475DBF4FE0}"/>
              </a:ext>
            </a:extLst>
          </p:cNvPr>
          <p:cNvSpPr txBox="1"/>
          <p:nvPr/>
        </p:nvSpPr>
        <p:spPr>
          <a:xfrm>
            <a:off x="574979" y="4592734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Exponentiated coefficients: </a:t>
            </a:r>
          </a:p>
        </p:txBody>
      </p:sp>
    </p:spTree>
    <p:extLst>
      <p:ext uri="{BB962C8B-B14F-4D97-AF65-F5344CB8AC3E}">
        <p14:creationId xmlns:p14="http://schemas.microsoft.com/office/powerpoint/2010/main" val="1689174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10570</TotalTime>
  <Words>637</Words>
  <Application>Microsoft Macintosh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Courier</vt:lpstr>
      <vt:lpstr>Courier New</vt:lpstr>
      <vt:lpstr>Office Theme</vt:lpstr>
      <vt:lpstr>Adjusting for confounders in linear regression and logistic regression</vt:lpstr>
      <vt:lpstr>Review from last time</vt:lpstr>
      <vt:lpstr>Announcements </vt:lpstr>
      <vt:lpstr>Today’s agenda</vt:lpstr>
      <vt:lpstr>Linear regression w/ adjustment variable (1) </vt:lpstr>
      <vt:lpstr>Linear regression w/ adjustment variable (2) </vt:lpstr>
      <vt:lpstr>Logistic regression overview</vt:lpstr>
      <vt:lpstr>Logistic regression w/ binary variable (1)</vt:lpstr>
      <vt:lpstr>Logistic regression w/ binary variable (2)  </vt:lpstr>
      <vt:lpstr>Logistic regression w/ continuous variable (1) </vt:lpstr>
      <vt:lpstr>Logistic regression w/ continuous variable (2) </vt:lpstr>
      <vt:lpstr>Logistic regression w/ adjustment variable (1) </vt:lpstr>
      <vt:lpstr>Logistic regression w/ adjustment variable (2)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 mini-course and R/RStudio </dc:title>
  <dc:creator>James Peng</dc:creator>
  <cp:lastModifiedBy>James Peng</cp:lastModifiedBy>
  <cp:revision>60</cp:revision>
  <dcterms:created xsi:type="dcterms:W3CDTF">2025-07-02T02:40:06Z</dcterms:created>
  <dcterms:modified xsi:type="dcterms:W3CDTF">2026-07-20T18:59:28Z</dcterms:modified>
</cp:coreProperties>
</file>