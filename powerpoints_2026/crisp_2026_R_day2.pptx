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69" r:id="rId4"/>
    <p:sldId id="257" r:id="rId5"/>
    <p:sldId id="272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/>
    <p:restoredTop sz="84520"/>
  </p:normalViewPr>
  <p:slideViewPr>
    <p:cSldViewPr snapToGrid="0" snapToObjects="1">
      <p:cViewPr varScale="1">
        <p:scale>
          <a:sx n="131" d="100"/>
          <a:sy n="131" d="100"/>
        </p:scale>
        <p:origin x="1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8C89B-37FB-6044-B7FE-ED1648408672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04E14-BC01-2144-B361-12211DA86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6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04E14-BC01-2144-B361-12211DA864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04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Expressions: 5+10</a:t>
            </a:r>
          </a:p>
          <a:p>
            <a:endParaRPr lang="en-US" dirty="0"/>
          </a:p>
          <a:p>
            <a:r>
              <a:rPr lang="en-US" dirty="0"/>
              <a:t>Variables: Choose a variable name, try to make it descriptive. Assign variable with = or &lt;-. If you assign a variable in R, it doesn’t print the variable. </a:t>
            </a:r>
          </a:p>
          <a:p>
            <a:endParaRPr lang="en-US" dirty="0"/>
          </a:p>
          <a:p>
            <a:r>
              <a:rPr lang="en-US" dirty="0"/>
              <a:t>a &lt;- 1 + 2</a:t>
            </a:r>
          </a:p>
          <a:p>
            <a:r>
              <a:rPr lang="en-US" dirty="0"/>
              <a:t>b &lt;- 5 + 5</a:t>
            </a:r>
          </a:p>
          <a:p>
            <a:endParaRPr lang="en-US" dirty="0"/>
          </a:p>
          <a:p>
            <a:r>
              <a:rPr lang="en-US" dirty="0"/>
              <a:t>Vector: Use the c(1,2,3,4) notation. Not 1,2,3,4! This will cause an error. Need to put c() around it.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Loops: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(num in c(1,2,3,4)){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Functions: Looks like </a:t>
            </a:r>
            <a:r>
              <a:rPr lang="en-US" dirty="0" err="1"/>
              <a:t>function_name</a:t>
            </a:r>
            <a:r>
              <a:rPr lang="en-US" dirty="0"/>
              <a:t>(arguments). Can look up notation to see order of arguments. Named arguments.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Give a few example functions, look them up </a:t>
            </a:r>
          </a:p>
          <a:p>
            <a:endParaRPr lang="en-US" dirty="0"/>
          </a:p>
          <a:p>
            <a:r>
              <a:rPr lang="en-US" dirty="0"/>
              <a:t>Writing your own function </a:t>
            </a:r>
          </a:p>
          <a:p>
            <a:endParaRPr lang="en-US" dirty="0"/>
          </a:p>
          <a:p>
            <a:r>
              <a:rPr lang="en-US" dirty="0" err="1"/>
              <a:t>add_two_numbers</a:t>
            </a:r>
            <a:r>
              <a:rPr lang="en-US" dirty="0"/>
              <a:t> &lt;- function(num1, num2){ </a:t>
            </a:r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dirty="0" err="1"/>
              <a:t>sum_two_num</a:t>
            </a:r>
            <a:r>
              <a:rPr lang="en-US" dirty="0"/>
              <a:t> &lt;- num1 + num2</a:t>
            </a:r>
          </a:p>
          <a:p>
            <a:r>
              <a:rPr lang="en-US" dirty="0"/>
              <a:t>   return(</a:t>
            </a:r>
            <a:r>
              <a:rPr lang="en-US" dirty="0" err="1"/>
              <a:t>sum_two_num</a:t>
            </a:r>
            <a:r>
              <a:rPr lang="en-US" dirty="0"/>
              <a:t>) 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04E14-BC01-2144-B361-12211DA864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5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07A4-7FBA-A04B-A7DA-C4446FDC5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E7AF0-B5A9-2348-B734-01474825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3960-24AC-3D48-A98C-F6FA25DD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8E35-DA94-F641-B351-5DE0500B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FC056-79F8-CE41-A3D6-401BEF22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7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3C32-E32E-7344-ACA5-CCD7805F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8069-CB60-084C-8B31-1CCC3F78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28429-3605-C143-9BE7-071EFB71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6AF37-A9E1-A94E-9C40-EC7351D2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7CF2-BB51-FF47-8936-A549A46A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4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25AB-DA86-A94B-B3DE-B5F5D2ED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016C-BE29-2845-BB7A-8219159E1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227E1-FE2C-9A41-9AF6-B030FDCB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EBB0-B4C0-AA48-AA81-B79B97EE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AD30A-EF73-4B48-9C25-C992FA99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F28D-AFF8-B44E-A0AD-4DCC28B4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F214-F2BE-DB4A-A407-5ED35332F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48F6-4768-4C47-8B48-7BC98D5B4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67C19-F4E0-7D46-9CA1-83761EEA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E859-BEA6-194D-AC83-283F6E3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03D0-0B11-FD4C-A515-2D412A99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7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38A-E0B9-7E4E-8A1C-A81F1A33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BAF1B-8BCB-3547-A615-C0A7BDE6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71805-F6C6-324B-8D4C-89E65621E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4A57D-3F3B-F148-B0D6-EA237D44D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EDDE7-955E-A745-8C3B-4C67781D2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2BE42-0491-D64F-B3AC-C3B93CD2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7B7FD-A56A-A54D-A22D-384356C7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7B1DB-05D4-E54A-8D0C-75860E1B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0357-3468-514B-AB43-57E061DE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D93AB-8859-6C49-B6B8-D6EB6F1A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DFBCD-95AF-184F-9A41-1BC4B554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E435-AD19-5045-AD4B-43C3F49D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2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9DFA6-D31F-BC41-A988-80BC1EDA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48783-B52F-564E-A4AC-62796996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41E6-4F93-AD4E-9FB5-1A5D3F29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4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6D9D-28AD-B54B-9AFB-CC2E8629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BD15-B104-D843-9C5F-24F03C3D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9ADEF-817C-6144-BBE8-6C6F5FF66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F2D01-6CAA-C747-AF7C-C99A7C1C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16778-A9DE-C948-A454-72FC9843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BAA91-C572-6442-B2D0-9C719C4E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D0CA-6569-1941-BC09-D12EC29B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8C7B6-5AB3-C245-9EAB-92FA4EA0A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A64C7-85B6-7544-841E-6CAAB15F9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95D94-B116-9446-859A-3224B937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DF3B2-7AED-D747-BAC9-56DFCE5B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779C8-B16A-E640-881D-1A384E56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2790-00BF-4449-A894-ADF965B5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DBFA1-E96E-8D44-B1F5-574698D72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74BCA-B5AA-114A-B767-CD1B6AB9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ADAE4-4B25-B049-8E3D-28C44A93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35D0E-164D-DA48-86A1-A3670CAC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4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9E70D-6584-E644-99F0-EF5FC9940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C47F0-000C-A145-9BA2-5B758EFF9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0EE1-EF8A-9944-AB50-06703890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4EC3-8962-9749-9A7D-445912EF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1B34-9C69-E945-A5A1-045C66F5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4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B3145-CBC6-AB47-BE05-44DF5658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DE012-5655-E14F-A6D4-1EBB490C8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D57DF-544F-5247-AE20-E2489D05F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1124-1A9B-3D47-8EA4-BB13BEDD95F8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ADB09-ACE8-F84C-AAF3-33FE0126F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79659-724B-BA40-9BC9-BD93702D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3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pspeng.github.io/crisp_note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3BA3-0159-9C47-B735-988554F3F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 syntax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E3200-E3B8-0145-9CBF-A4F65F626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CRISP R Mini-Course</a:t>
            </a:r>
          </a:p>
          <a:p>
            <a:r>
              <a:rPr lang="en-US" dirty="0"/>
              <a:t>2026  </a:t>
            </a:r>
          </a:p>
          <a:p>
            <a:r>
              <a:rPr lang="en-US" dirty="0"/>
              <a:t>Day 2</a:t>
            </a:r>
          </a:p>
        </p:txBody>
      </p:sp>
    </p:spTree>
    <p:extLst>
      <p:ext uri="{BB962C8B-B14F-4D97-AF65-F5344CB8AC3E}">
        <p14:creationId xmlns:p14="http://schemas.microsoft.com/office/powerpoint/2010/main" val="88239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0FFEB-61D7-6D4D-A688-0CFC065CA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and talk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0FB20-F1AA-7544-B048-4C3B59DC0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4666"/>
          </a:xfrm>
        </p:spPr>
        <p:txBody>
          <a:bodyPr>
            <a:normAutofit/>
          </a:bodyPr>
          <a:lstStyle/>
          <a:p>
            <a:r>
              <a:rPr lang="en-US" dirty="0"/>
              <a:t>What does this code do? Try to use the words: </a:t>
            </a:r>
            <a:r>
              <a:rPr lang="en-US" dirty="0">
                <a:solidFill>
                  <a:schemeClr val="accent6"/>
                </a:solidFill>
              </a:rPr>
              <a:t>package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comment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variable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D6825-3FB6-6D46-8B6D-FF65E0A68CB5}"/>
              </a:ext>
            </a:extLst>
          </p:cNvPr>
          <p:cNvSpPr txBox="1"/>
          <p:nvPr/>
        </p:nvSpPr>
        <p:spPr>
          <a:xfrm>
            <a:off x="1101439" y="3019291"/>
            <a:ext cx="4006735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code block 1</a:t>
            </a: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(“survival”)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library(survival)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0F6D2-E57F-D046-B00D-9F1A96A85908}"/>
              </a:ext>
            </a:extLst>
          </p:cNvPr>
          <p:cNvSpPr txBox="1"/>
          <p:nvPr/>
        </p:nvSpPr>
        <p:spPr>
          <a:xfrm>
            <a:off x="1091742" y="4391707"/>
            <a:ext cx="401643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code block 2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&lt;- 5 + 5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F73050-F436-EB43-A10A-0332627417C1}"/>
              </a:ext>
            </a:extLst>
          </p:cNvPr>
          <p:cNvSpPr txBox="1"/>
          <p:nvPr/>
        </p:nvSpPr>
        <p:spPr>
          <a:xfrm>
            <a:off x="6096000" y="3019291"/>
            <a:ext cx="4599709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code block 3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test_data.csv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168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CAA1-9634-7140-8CB2-A8F1C7F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from last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C746-82FF-8D4E-BE02-BF70C759F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4838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Last time, we learned about </a:t>
            </a:r>
            <a:r>
              <a:rPr lang="en-US" dirty="0">
                <a:solidFill>
                  <a:schemeClr val="accent1"/>
                </a:solidFill>
              </a:rPr>
              <a:t>R (programming language) 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R Studio (application for writing R code) </a:t>
            </a:r>
          </a:p>
          <a:p>
            <a:r>
              <a:rPr lang="en-US" dirty="0"/>
              <a:t>We learned how to use </a:t>
            </a:r>
            <a:r>
              <a:rPr lang="en-US" dirty="0">
                <a:solidFill>
                  <a:schemeClr val="accent6"/>
                </a:solidFill>
              </a:rPr>
              <a:t>R notebooks (.</a:t>
            </a:r>
            <a:r>
              <a:rPr lang="en-US" dirty="0" err="1">
                <a:solidFill>
                  <a:schemeClr val="accent6"/>
                </a:solidFill>
              </a:rPr>
              <a:t>Rmd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, which allow us to combine text and </a:t>
            </a:r>
            <a:r>
              <a:rPr lang="en-US" dirty="0">
                <a:solidFill>
                  <a:schemeClr val="accent6"/>
                </a:solidFill>
              </a:rPr>
              <a:t>code chunks </a:t>
            </a:r>
            <a:r>
              <a:rPr lang="en-US" dirty="0"/>
              <a:t>into a single document  </a:t>
            </a:r>
          </a:p>
          <a:p>
            <a:r>
              <a:rPr lang="en-US" dirty="0"/>
              <a:t>We learned some basic functionality: </a:t>
            </a:r>
          </a:p>
          <a:p>
            <a:pPr lvl="1"/>
            <a:r>
              <a:rPr lang="en-US" dirty="0"/>
              <a:t>Comments</a:t>
            </a:r>
            <a:endParaRPr lang="en-US" sz="1500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r>
              <a:rPr lang="en-US" dirty="0"/>
              <a:t>Installing packages</a:t>
            </a:r>
            <a:endParaRPr lang="en-US" sz="1500" dirty="0"/>
          </a:p>
          <a:p>
            <a:pPr lvl="1"/>
            <a:r>
              <a:rPr lang="en-US" dirty="0"/>
              <a:t>Loading packages</a:t>
            </a:r>
          </a:p>
          <a:p>
            <a:pPr lvl="1"/>
            <a:r>
              <a:rPr lang="en-US" dirty="0"/>
              <a:t>Loading a dataset </a:t>
            </a:r>
          </a:p>
          <a:p>
            <a:pPr lvl="1"/>
            <a:r>
              <a:rPr lang="en-US" dirty="0"/>
              <a:t>Doing arithmetic operations </a:t>
            </a:r>
          </a:p>
          <a:p>
            <a:pPr lvl="1"/>
            <a:endParaRPr lang="en-US" dirty="0"/>
          </a:p>
        </p:txBody>
      </p:sp>
      <p:pic>
        <p:nvPicPr>
          <p:cNvPr id="1026" name="Picture 2" descr="An R Notebook example.">
            <a:extLst>
              <a:ext uri="{FF2B5EF4-FFF2-40B4-BE49-F238E27FC236}">
                <a16:creationId xmlns:a16="http://schemas.microsoft.com/office/drawing/2014/main" id="{B5179293-D12D-184B-958D-5E75EBD40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853" y="1009652"/>
            <a:ext cx="4774978" cy="516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23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43B37-EB9A-894D-A8B2-D5399809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5A48F-9549-3440-9F03-9696FDA42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Errors versus warnings </a:t>
            </a:r>
          </a:p>
          <a:p>
            <a:r>
              <a:rPr lang="en-US" dirty="0"/>
              <a:t>Learn about basic R syntax </a:t>
            </a:r>
          </a:p>
          <a:p>
            <a:pPr lvl="1"/>
            <a:r>
              <a:rPr lang="en-US" dirty="0"/>
              <a:t>Expressions and variables</a:t>
            </a:r>
          </a:p>
          <a:p>
            <a:pPr lvl="1"/>
            <a:r>
              <a:rPr lang="en-US" dirty="0"/>
              <a:t>Vector</a:t>
            </a:r>
          </a:p>
          <a:p>
            <a:pPr lvl="1"/>
            <a:r>
              <a:rPr lang="en-US" dirty="0"/>
              <a:t>Function </a:t>
            </a:r>
          </a:p>
          <a:p>
            <a:pPr lvl="1"/>
            <a:r>
              <a:rPr lang="en-US" dirty="0" err="1"/>
              <a:t>Dataframe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Common functions for </a:t>
            </a:r>
            <a:r>
              <a:rPr lang="en-US" dirty="0" err="1"/>
              <a:t>dataframe</a:t>
            </a:r>
            <a:r>
              <a:rPr lang="en-US" dirty="0"/>
              <a:t> operations </a:t>
            </a:r>
          </a:p>
        </p:txBody>
      </p:sp>
    </p:spTree>
    <p:extLst>
      <p:ext uri="{BB962C8B-B14F-4D97-AF65-F5344CB8AC3E}">
        <p14:creationId xmlns:p14="http://schemas.microsoft.com/office/powerpoint/2010/main" val="415579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C380-2F7B-EC4F-8501-5FCD3801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 versus Error versus Warning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53AD0-B7FA-5043-8E3A-6B0ECD95A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825625"/>
            <a:ext cx="5980872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Messages: </a:t>
            </a:r>
            <a:r>
              <a:rPr lang="en-US" dirty="0"/>
              <a:t>Everything is normal. These are for informational purposes</a:t>
            </a:r>
          </a:p>
          <a:p>
            <a:r>
              <a:rPr lang="en-US" b="1" dirty="0"/>
              <a:t>Error</a:t>
            </a:r>
            <a:r>
              <a:rPr lang="en-US" dirty="0"/>
              <a:t>: Something is wrong. If there is an error, the code will not run! </a:t>
            </a:r>
          </a:p>
          <a:p>
            <a:r>
              <a:rPr lang="en-US" b="1" dirty="0"/>
              <a:t>Warning</a:t>
            </a:r>
            <a:r>
              <a:rPr lang="en-US" dirty="0"/>
              <a:t>: Something </a:t>
            </a:r>
            <a:r>
              <a:rPr lang="en-US" i="1" dirty="0"/>
              <a:t>might</a:t>
            </a:r>
            <a:r>
              <a:rPr lang="en-US" dirty="0"/>
              <a:t> </a:t>
            </a:r>
            <a:r>
              <a:rPr lang="en-US" i="1" dirty="0"/>
              <a:t>be</a:t>
            </a:r>
            <a:r>
              <a:rPr lang="en-US" dirty="0"/>
              <a:t> wrong. If there is a warning, the code will still run </a:t>
            </a:r>
          </a:p>
          <a:p>
            <a:r>
              <a:rPr lang="en-US" dirty="0"/>
              <a:t>How to debug: </a:t>
            </a:r>
          </a:p>
          <a:p>
            <a:pPr lvl="1"/>
            <a:r>
              <a:rPr lang="en-US" dirty="0"/>
              <a:t>Read the message and double check your code </a:t>
            </a:r>
          </a:p>
          <a:p>
            <a:pPr lvl="1"/>
            <a:r>
              <a:rPr lang="en-US" dirty="0"/>
              <a:t>Google (or use </a:t>
            </a:r>
            <a:r>
              <a:rPr lang="en-US" dirty="0" err="1"/>
              <a:t>ChatGPT</a:t>
            </a:r>
            <a:r>
              <a:rPr lang="en-US" dirty="0"/>
              <a:t>) to figure out the error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6FEB9B-CC91-2D4C-80F0-60A66C5E6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138" y="3664384"/>
            <a:ext cx="4857538" cy="129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 up of a text&#10;&#10;Description automatically generated">
            <a:extLst>
              <a:ext uri="{FF2B5EF4-FFF2-40B4-BE49-F238E27FC236}">
                <a16:creationId xmlns:a16="http://schemas.microsoft.com/office/drawing/2014/main" id="{DD165653-D90A-3F4C-B759-069681C50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893" y="5561072"/>
            <a:ext cx="4528103" cy="615891"/>
          </a:xfrm>
          <a:prstGeom prst="rect">
            <a:avLst/>
          </a:prstGeom>
        </p:spPr>
      </p:pic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C2E0CD2-BC11-B648-8223-B36ED3153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4565"/>
          <a:stretch/>
        </p:blipFill>
        <p:spPr>
          <a:xfrm>
            <a:off x="6684893" y="1716777"/>
            <a:ext cx="5030029" cy="1476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B48E0-6F01-6A4F-8987-BE16BA7EA2CA}"/>
              </a:ext>
            </a:extLst>
          </p:cNvPr>
          <p:cNvSpPr txBox="1"/>
          <p:nvPr/>
        </p:nvSpPr>
        <p:spPr>
          <a:xfrm>
            <a:off x="6684893" y="1334401"/>
            <a:ext cx="193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DBFDC-8606-9442-BE4F-81653E2918E5}"/>
              </a:ext>
            </a:extLst>
          </p:cNvPr>
          <p:cNvSpPr txBox="1"/>
          <p:nvPr/>
        </p:nvSpPr>
        <p:spPr>
          <a:xfrm>
            <a:off x="6684893" y="3295052"/>
            <a:ext cx="193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E4F8BC-E838-B54D-B061-323AB5F62A39}"/>
              </a:ext>
            </a:extLst>
          </p:cNvPr>
          <p:cNvSpPr txBox="1"/>
          <p:nvPr/>
        </p:nvSpPr>
        <p:spPr>
          <a:xfrm>
            <a:off x="6727757" y="5191740"/>
            <a:ext cx="193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Warning: </a:t>
            </a:r>
          </a:p>
        </p:txBody>
      </p:sp>
    </p:spTree>
    <p:extLst>
      <p:ext uri="{BB962C8B-B14F-4D97-AF65-F5344CB8AC3E}">
        <p14:creationId xmlns:p14="http://schemas.microsoft.com/office/powerpoint/2010/main" val="270765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721E-82EC-3247-A973-9E9440AF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Guided tutorial (30 minutes)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707CF-5153-A54F-8DE6-7C592F79C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Today, we will learn the basics of R syntax. </a:t>
            </a:r>
          </a:p>
          <a:p>
            <a:pPr marL="514350" indent="-514350">
              <a:buAutoNum type="arabicPeriod"/>
            </a:pPr>
            <a:r>
              <a:rPr lang="en-US" dirty="0"/>
              <a:t>Go to </a:t>
            </a:r>
            <a:r>
              <a:rPr lang="en-US" dirty="0">
                <a:hlinkClick r:id="rId3"/>
              </a:rPr>
              <a:t>bit.ly/crisp2026</a:t>
            </a:r>
            <a:r>
              <a:rPr lang="en-US" dirty="0"/>
              <a:t>. </a:t>
            </a:r>
          </a:p>
          <a:p>
            <a:pPr marL="514350" indent="-514350">
              <a:buAutoNum type="arabicPeriod"/>
            </a:pPr>
            <a:r>
              <a:rPr lang="en-US" dirty="0"/>
              <a:t>Download </a:t>
            </a:r>
            <a:r>
              <a:rPr lang="en-US" dirty="0" err="1"/>
              <a:t>Rmd</a:t>
            </a:r>
            <a:r>
              <a:rPr lang="en-US" dirty="0"/>
              <a:t> file for today into your CRISP R notes folder.</a:t>
            </a:r>
          </a:p>
          <a:p>
            <a:pPr marL="514350" indent="-514350">
              <a:buAutoNum type="arabicPeriod"/>
            </a:pPr>
            <a:r>
              <a:rPr lang="en-US" dirty="0"/>
              <a:t>We will go through the tutorial (until the exercises) together! Try to follow along, and type and run the code as I do it.   </a:t>
            </a:r>
          </a:p>
        </p:txBody>
      </p:sp>
    </p:spTree>
    <p:extLst>
      <p:ext uri="{BB962C8B-B14F-4D97-AF65-F5344CB8AC3E}">
        <p14:creationId xmlns:p14="http://schemas.microsoft.com/office/powerpoint/2010/main" val="319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CC8E-766F-4F47-9596-6B6AE350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Self-guided exercises (20 minutes)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9DE2D-1E77-DA45-A84A-2DA1C95F7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</a:t>
            </a:r>
            <a:r>
              <a:rPr lang="en-US"/>
              <a:t>the exercises!</a:t>
            </a:r>
          </a:p>
        </p:txBody>
      </p:sp>
    </p:spTree>
    <p:extLst>
      <p:ext uri="{BB962C8B-B14F-4D97-AF65-F5344CB8AC3E}">
        <p14:creationId xmlns:p14="http://schemas.microsoft.com/office/powerpoint/2010/main" val="3363772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461</Words>
  <Application>Microsoft Macintosh PowerPoint</Application>
  <PresentationFormat>Widescreen</PresentationFormat>
  <Paragraphs>76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</vt:lpstr>
      <vt:lpstr>Courier New</vt:lpstr>
      <vt:lpstr>Office Theme</vt:lpstr>
      <vt:lpstr>R syntax</vt:lpstr>
      <vt:lpstr>Turn and talk </vt:lpstr>
      <vt:lpstr>Review from last time </vt:lpstr>
      <vt:lpstr>Agenda </vt:lpstr>
      <vt:lpstr>Messages versus Error versus Warning </vt:lpstr>
      <vt:lpstr>Guided tutorial (30 minutes) </vt:lpstr>
      <vt:lpstr>Self-guided exercises (20 minutes)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mini-course and R/RStudio </dc:title>
  <dc:creator>James Peng</dc:creator>
  <cp:lastModifiedBy>James Peng</cp:lastModifiedBy>
  <cp:revision>18</cp:revision>
  <dcterms:created xsi:type="dcterms:W3CDTF">2025-07-02T02:40:06Z</dcterms:created>
  <dcterms:modified xsi:type="dcterms:W3CDTF">2026-07-08T18:16:03Z</dcterms:modified>
</cp:coreProperties>
</file>